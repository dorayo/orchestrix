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785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5636" y="1098500"/>
            <a:ext cx="397272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多智能体协作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110122" y="2031950"/>
            <a:ext cx="292360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重塑游戏研发流程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25948" y="2917775"/>
            <a:ext cx="26921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Orchestrix x youlidao.ai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6519" y="3721001"/>
            <a:ext cx="5619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我是谁？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25426"/>
            <a:ext cx="8382000" cy="6953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1025426"/>
            <a:ext cx="0" cy="695325"/>
          </a:xfrm>
          <a:prstGeom prst="line">
            <a:avLst/>
          </a:prstGeom>
          <a:noFill/>
          <a:ln w="47625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4260" y="1215926"/>
            <a:ext cx="79831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"我们把游戏公司最优秀团队的工作方式，教给了 AI"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0683" y="1974652"/>
            <a:ext cx="2137916" cy="552450"/>
          </a:xfrm>
          <a:prstGeom prst="roundRect">
            <a:avLst>
              <a:gd name="adj" fmla="val 18391"/>
            </a:avLst>
          </a:prstGeom>
          <a:solidFill>
            <a:srgbClr val="2D4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08283" y="2127052"/>
            <a:ext cx="16627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你们造的：游戏世界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5401" y="1974652"/>
            <a:ext cx="2137916" cy="552450"/>
          </a:xfrm>
          <a:prstGeom prst="roundRect">
            <a:avLst>
              <a:gd name="adj" fmla="val 18391"/>
            </a:avLst>
          </a:prstGeom>
          <a:solidFill>
            <a:srgbClr val="3D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000" y="2127052"/>
            <a:ext cx="16627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我们造的：开发世界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0683" y="2628602"/>
            <a:ext cx="1090613" cy="552450"/>
          </a:xfrm>
          <a:prstGeom prst="roundRect">
            <a:avLst>
              <a:gd name="adj" fmla="val 18391"/>
            </a:avLst>
          </a:prstGeom>
          <a:solidFill>
            <a:srgbClr val="2D4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18756" y="2781002"/>
            <a:ext cx="5944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26708" y="2603153"/>
            <a:ext cx="1087487" cy="552450"/>
          </a:xfrm>
          <a:prstGeom prst="roundRect">
            <a:avLst>
              <a:gd name="adj" fmla="val 18391"/>
            </a:avLst>
          </a:prstGeom>
          <a:solidFill>
            <a:srgbClr val="3D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3000" y="2761952"/>
            <a:ext cx="5912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0683" y="3282553"/>
            <a:ext cx="1857970" cy="552450"/>
          </a:xfrm>
          <a:prstGeom prst="roundRect">
            <a:avLst>
              <a:gd name="adj" fmla="val 18391"/>
            </a:avLst>
          </a:prstGeom>
          <a:solidFill>
            <a:srgbClr val="2D4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11082" y="3434953"/>
            <a:ext cx="13771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团队配合打 Boss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30723" y="3267601"/>
            <a:ext cx="1811834" cy="552450"/>
          </a:xfrm>
          <a:prstGeom prst="roundRect">
            <a:avLst>
              <a:gd name="adj" fmla="val 18391"/>
            </a:avLst>
          </a:prstGeom>
          <a:solidFill>
            <a:srgbClr val="3D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1583" y="3429134"/>
            <a:ext cx="13301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团队协作开发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454" y="1665238"/>
            <a:ext cx="1037433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7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045791" y="2839938"/>
            <a:ext cx="515331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游戏公司的典型工作流程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游戏研发 7 大阶段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88975"/>
            <a:ext cx="1185267" cy="796826"/>
          </a:xfrm>
          <a:prstGeom prst="roundRect">
            <a:avLst>
              <a:gd name="adj" fmla="val 1275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2678" y="1241375"/>
            <a:ext cx="10019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2678" y="1552426"/>
            <a:ext cx="10019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市场分析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66267" y="1339751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0317" y="1088975"/>
            <a:ext cx="1185267" cy="796826"/>
          </a:xfrm>
          <a:prstGeom prst="roundRect">
            <a:avLst>
              <a:gd name="adj" fmla="val 1275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11995" y="1241375"/>
            <a:ext cx="10019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11995" y="1552426"/>
            <a:ext cx="10019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确定方向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05584" y="1339751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59634" y="1088975"/>
            <a:ext cx="1185267" cy="796826"/>
          </a:xfrm>
          <a:prstGeom prst="roundRect">
            <a:avLst>
              <a:gd name="adj" fmla="val 1275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51312" y="1241375"/>
            <a:ext cx="10019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51312" y="1514326"/>
            <a:ext cx="10019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核心验证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44901" y="1339751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98950" y="1088975"/>
            <a:ext cx="1185267" cy="796826"/>
          </a:xfrm>
          <a:prstGeom prst="roundRect">
            <a:avLst>
              <a:gd name="adj" fmla="val 1275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90629" y="1241375"/>
            <a:ext cx="10019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90629" y="1514326"/>
            <a:ext cx="10019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内容生产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84218" y="1339751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38267" y="1088975"/>
            <a:ext cx="1185267" cy="796826"/>
          </a:xfrm>
          <a:prstGeom prst="roundRect">
            <a:avLst>
              <a:gd name="adj" fmla="val 1275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29945" y="1241375"/>
            <a:ext cx="10019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29945" y="1514326"/>
            <a:ext cx="10019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全面测试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23534" y="1339751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77584" y="1088975"/>
            <a:ext cx="1185267" cy="796826"/>
          </a:xfrm>
          <a:prstGeom prst="roundRect">
            <a:avLst>
              <a:gd name="adj" fmla="val 1275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69262" y="1241375"/>
            <a:ext cx="10019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69262" y="1552426"/>
            <a:ext cx="10019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正式发布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950" y="2139702"/>
            <a:ext cx="2540050" cy="1130201"/>
          </a:xfrm>
          <a:prstGeom prst="roundRect">
            <a:avLst>
              <a:gd name="adj" fmla="val 8990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27000" y="2139702"/>
            <a:ext cx="0" cy="1130201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6550" y="2330202"/>
            <a:ext cx="21633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规划阶段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6550" y="2679353"/>
            <a:ext cx="2163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 → 立项 → Demo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550" y="2879378"/>
            <a:ext cx="2163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验证可行性和核心玩法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01901" y="2139702"/>
            <a:ext cx="2540050" cy="1130201"/>
          </a:xfrm>
          <a:prstGeom prst="roundRect">
            <a:avLst>
              <a:gd name="adj" fmla="val 8990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320951" y="2139702"/>
            <a:ext cx="0" cy="1130201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30501" y="2330202"/>
            <a:ext cx="21633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生产阶段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30501" y="2679353"/>
            <a:ext cx="21633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→ Beta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30501" y="2831753"/>
            <a:ext cx="2163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大规模内容生产和测试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95851" y="2139702"/>
            <a:ext cx="2540050" cy="1130201"/>
          </a:xfrm>
          <a:prstGeom prst="roundRect">
            <a:avLst>
              <a:gd name="adj" fmla="val 8990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114901" y="2139702"/>
            <a:ext cx="0" cy="1130201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24451" y="2330202"/>
            <a:ext cx="21633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运营阶段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24451" y="2679353"/>
            <a:ext cx="2163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上市 → 持续迭代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24451" y="2879378"/>
            <a:ext cx="2163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版本更新和用户维护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游戏公司 4 大职能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167235" y="1025426"/>
            <a:ext cx="1253579" cy="590550"/>
          </a:xfrm>
          <a:prstGeom prst="roundRect">
            <a:avLst>
              <a:gd name="adj" fmla="val 17204"/>
            </a:avLst>
          </a:prstGeom>
          <a:solidFill>
            <a:srgbClr val="4A3D6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84686" y="1177826"/>
            <a:ext cx="6310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98525" y="1806476"/>
            <a:ext cx="870049" cy="552450"/>
          </a:xfrm>
          <a:prstGeom prst="roundRect">
            <a:avLst>
              <a:gd name="adj" fmla="val 18391"/>
            </a:avLst>
          </a:prstGeom>
          <a:solidFill>
            <a:srgbClr val="2D4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48804" y="1958876"/>
            <a:ext cx="3694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59075" y="1806476"/>
            <a:ext cx="870049" cy="552450"/>
          </a:xfrm>
          <a:prstGeom prst="roundRect">
            <a:avLst>
              <a:gd name="adj" fmla="val 18391"/>
            </a:avLst>
          </a:prstGeom>
          <a:solidFill>
            <a:srgbClr val="4A3D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09353" y="1958876"/>
            <a:ext cx="3694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19624" y="1806476"/>
            <a:ext cx="870049" cy="552450"/>
          </a:xfrm>
          <a:prstGeom prst="roundRect">
            <a:avLst>
              <a:gd name="adj" fmla="val 18391"/>
            </a:avLst>
          </a:prstGeom>
          <a:solidFill>
            <a:srgbClr val="2D3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69902" y="1958876"/>
            <a:ext cx="3694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50244" y="2549426"/>
            <a:ext cx="1687562" cy="552450"/>
          </a:xfrm>
          <a:prstGeom prst="roundRect">
            <a:avLst>
              <a:gd name="adj" fmla="val 18391"/>
            </a:avLst>
          </a:prstGeom>
          <a:solidFill>
            <a:srgbClr val="4A2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58194" y="2701826"/>
            <a:ext cx="6850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测试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61099" y="1025426"/>
            <a:ext cx="3301901" cy="682526"/>
          </a:xfrm>
          <a:prstGeom prst="roundRect">
            <a:avLst>
              <a:gd name="adj" fmla="val 1116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0149" y="1025426"/>
            <a:ext cx="0" cy="682526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89699" y="1152376"/>
            <a:ext cx="2940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89699" y="1400026"/>
            <a:ext cx="2940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 / 数值 / 关卡 / 文案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61099" y="1809452"/>
            <a:ext cx="3301901" cy="682526"/>
          </a:xfrm>
          <a:prstGeom prst="roundRect">
            <a:avLst>
              <a:gd name="adj" fmla="val 1116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80149" y="1809452"/>
            <a:ext cx="0" cy="682526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89699" y="1936403"/>
            <a:ext cx="2940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89699" y="2184053"/>
            <a:ext cx="2940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原画 / 3D / UI / 动画特效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61099" y="2593479"/>
            <a:ext cx="3301901" cy="682526"/>
          </a:xfrm>
          <a:prstGeom prst="roundRect">
            <a:avLst>
              <a:gd name="adj" fmla="val 1116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80149" y="2593479"/>
            <a:ext cx="0" cy="682526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89699" y="2720429"/>
            <a:ext cx="2940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89699" y="2968079"/>
            <a:ext cx="2940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 / 服务端 / 引擎工具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61099" y="3377505"/>
            <a:ext cx="3301901" cy="644426"/>
          </a:xfrm>
          <a:prstGeom prst="roundRect">
            <a:avLst>
              <a:gd name="adj" fmla="val 1182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480149" y="3377505"/>
            <a:ext cx="0" cy="644426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89699" y="3504456"/>
            <a:ext cx="29404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89699" y="3714006"/>
            <a:ext cx="2940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功能测试 / 性能测试 / 兼容测试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4A2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常见痛点 - 你们有没有遇到过？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847725"/>
            <a:ext cx="3009900" cy="695176"/>
          </a:xfrm>
          <a:prstGeom prst="roundRect">
            <a:avLst>
              <a:gd name="adj" fmla="val 1096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6500" y="847725"/>
            <a:ext cx="0" cy="69517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7950" y="974675"/>
            <a:ext cx="2720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文档问题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234976"/>
            <a:ext cx="27203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需求文档不完整、口头需求多 → 返工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54301" y="847725"/>
            <a:ext cx="3009900" cy="695176"/>
          </a:xfrm>
          <a:prstGeom prst="roundRect">
            <a:avLst>
              <a:gd name="adj" fmla="val 1096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73351" y="847725"/>
            <a:ext cx="0" cy="69517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44801" y="974675"/>
            <a:ext cx="2720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同步问题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44801" y="1234976"/>
            <a:ext cx="27203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文档更新不及时 → 版本不一致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7450" y="1669852"/>
            <a:ext cx="3009900" cy="695176"/>
          </a:xfrm>
          <a:prstGeom prst="roundRect">
            <a:avLst>
              <a:gd name="adj" fmla="val 1096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6500" y="1669852"/>
            <a:ext cx="0" cy="69517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950" y="1796802"/>
            <a:ext cx="2720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沟通问题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950" y="2057102"/>
            <a:ext cx="27203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跨部门沟通效率低 → 进度延误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54301" y="1669852"/>
            <a:ext cx="3009900" cy="695176"/>
          </a:xfrm>
          <a:prstGeom prst="roundRect">
            <a:avLst>
              <a:gd name="adj" fmla="val 1096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473351" y="1669852"/>
            <a:ext cx="0" cy="69517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44801" y="1796802"/>
            <a:ext cx="2720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质量问题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44801" y="2057102"/>
            <a:ext cx="27203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形同虚设 → 技术债务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7450" y="2491978"/>
            <a:ext cx="3009900" cy="695176"/>
          </a:xfrm>
          <a:prstGeom prst="roundRect">
            <a:avLst>
              <a:gd name="adj" fmla="val 1096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36500" y="2491978"/>
            <a:ext cx="0" cy="69517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950" y="2618929"/>
            <a:ext cx="2720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培训问题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950" y="2879229"/>
            <a:ext cx="27203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新人上手慢 → 知识传承困难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54301" y="2491978"/>
            <a:ext cx="3009900" cy="695176"/>
          </a:xfrm>
          <a:prstGeom prst="roundRect">
            <a:avLst>
              <a:gd name="adj" fmla="val 1096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473351" y="2491978"/>
            <a:ext cx="0" cy="69517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44801" y="2618929"/>
            <a:ext cx="2720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管理问题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44801" y="2879229"/>
            <a:ext cx="27203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进度难以追踪 → 风险发现滞后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454" y="1665238"/>
            <a:ext cx="1037433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7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527721" y="2839938"/>
            <a:ext cx="621033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Orchestrix 如何解决这些痛点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核心理念（用游戏语言）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847725"/>
            <a:ext cx="8382000" cy="876300"/>
          </a:xfrm>
          <a:prstGeom prst="roundRect">
            <a:avLst>
              <a:gd name="adj" fmla="val 1159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000125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6557" y="1138238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33500" y="1009650"/>
            <a:ext cx="7383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协调 &gt; 控制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33500" y="1333500"/>
            <a:ext cx="738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5人组队打本 ≠ 1人指挥4个挂机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1000" y="1876425"/>
            <a:ext cx="8382000" cy="876300"/>
          </a:xfrm>
          <a:prstGeom prst="roundRect">
            <a:avLst>
              <a:gd name="adj" fmla="val 1159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2028825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6557" y="2166938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33500" y="2038350"/>
            <a:ext cx="7383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 &gt; 通用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3500" y="2362200"/>
            <a:ext cx="738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战法牧各司其职 ≠ 全能号单刷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1000" y="2905125"/>
            <a:ext cx="8382000" cy="876300"/>
          </a:xfrm>
          <a:prstGeom prst="roundRect">
            <a:avLst>
              <a:gd name="adj" fmla="val 1159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1500" y="3057525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6557" y="3195638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33500" y="3067050"/>
            <a:ext cx="7383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 &gt; 随意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33500" y="3390900"/>
            <a:ext cx="738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看攻略打副本 ≠ 瞎打碰运气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个专业 AI Agent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82501" y="1111151"/>
            <a:ext cx="3987998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2501" y="809625"/>
            <a:ext cx="4067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规划层（类似策划组）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2501" y="1222177"/>
            <a:ext cx="3987998" cy="333375"/>
          </a:xfrm>
          <a:prstGeom prst="roundRect">
            <a:avLst>
              <a:gd name="adj" fmla="val 1523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451" y="1298377"/>
            <a:ext cx="971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61951" y="1298377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市场调研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23951" y="1298377"/>
            <a:ext cx="20599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竞品分析、用户画像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2501" y="1631752"/>
            <a:ext cx="3987998" cy="333375"/>
          </a:xfrm>
          <a:prstGeom prst="roundRect">
            <a:avLst>
              <a:gd name="adj" fmla="val 1523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451" y="1707952"/>
            <a:ext cx="971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61951" y="1707952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主策划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23951" y="1707952"/>
            <a:ext cx="20599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写PRD、定功能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501" y="2041327"/>
            <a:ext cx="3987998" cy="333375"/>
          </a:xfrm>
          <a:prstGeom prst="roundRect">
            <a:avLst>
              <a:gd name="adj" fmla="val 1523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451" y="2117527"/>
            <a:ext cx="971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UX-Expert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61951" y="2117527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UI设计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23951" y="2117527"/>
            <a:ext cx="20599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出交互稿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501" y="2450902"/>
            <a:ext cx="3987998" cy="333375"/>
          </a:xfrm>
          <a:prstGeom prst="roundRect">
            <a:avLst>
              <a:gd name="adj" fmla="val 1523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9451" y="2527102"/>
            <a:ext cx="971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61951" y="2527102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主程序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23951" y="2527102"/>
            <a:ext cx="20599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501" y="2860477"/>
            <a:ext cx="3987998" cy="333375"/>
          </a:xfrm>
          <a:prstGeom prst="roundRect">
            <a:avLst>
              <a:gd name="adj" fmla="val 1523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451" y="2936677"/>
            <a:ext cx="971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61951" y="2936677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制作人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23951" y="2936677"/>
            <a:ext cx="20599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质量把关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73501" y="1111151"/>
            <a:ext cx="3987998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73501" y="809625"/>
            <a:ext cx="4067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执行层（类似开发组）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73501" y="1222177"/>
            <a:ext cx="3987998" cy="333375"/>
          </a:xfrm>
          <a:prstGeom prst="roundRect">
            <a:avLst>
              <a:gd name="adj" fmla="val 1523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00451" y="1298377"/>
            <a:ext cx="971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52951" y="1298377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项目管理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14951" y="1298377"/>
            <a:ext cx="20599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拆任务、排期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73501" y="1631752"/>
            <a:ext cx="3987998" cy="333375"/>
          </a:xfrm>
          <a:prstGeom prst="roundRect">
            <a:avLst>
              <a:gd name="adj" fmla="val 1523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00451" y="1707952"/>
            <a:ext cx="971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52951" y="1707952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程序员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14951" y="1707952"/>
            <a:ext cx="20599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写代码、写测试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73501" y="2041327"/>
            <a:ext cx="3987998" cy="333375"/>
          </a:xfrm>
          <a:prstGeom prst="roundRect">
            <a:avLst>
              <a:gd name="adj" fmla="val 1523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00451" y="2117527"/>
            <a:ext cx="971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52951" y="2117527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14951" y="2117527"/>
            <a:ext cx="20599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审代码、找Bug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角色映射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08199" y="1716435"/>
            <a:ext cx="2705100" cy="2482007"/>
          </a:xfrm>
          <a:prstGeom prst="roundRect">
            <a:avLst>
              <a:gd name="adj" fmla="val 4093"/>
            </a:avLst>
          </a:prstGeom>
          <a:solidFill>
            <a:srgbClr val="2D3D4A"/>
          </a:solidFill>
          <a:ln w="19050">
            <a:solidFill>
              <a:srgbClr val="00D9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94889" y="1925985"/>
            <a:ext cx="2331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Orchestrix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17749" y="2262485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17749" y="2478286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17749" y="2694087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UX-Expert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17749" y="2909888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17749" y="3125688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17749" y="3341489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17749" y="355729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17749" y="3773091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67200" y="2781151"/>
            <a:ext cx="6217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30701" y="1506885"/>
            <a:ext cx="2705100" cy="2901107"/>
          </a:xfrm>
          <a:prstGeom prst="roundRect">
            <a:avLst>
              <a:gd name="adj" fmla="val 3756"/>
            </a:avLst>
          </a:prstGeom>
          <a:solidFill>
            <a:srgbClr val="3D4A2D"/>
          </a:solidFill>
          <a:ln w="19050">
            <a:solidFill>
              <a:srgbClr val="70AD4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17391" y="1716435"/>
            <a:ext cx="23317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游戏团队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0251" y="2091035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市场调研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0251" y="2354461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主策划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0251" y="2617887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UI设计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40251" y="2881313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主程序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0251" y="3144738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0251" y="3408164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项目管理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0251" y="3671590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程序员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251" y="3935016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测试工程师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智能决策矩阵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25426"/>
            <a:ext cx="8382000" cy="463451"/>
          </a:xfrm>
          <a:prstGeom prst="roundRect">
            <a:avLst>
              <a:gd name="adj" fmla="val 21923"/>
            </a:avLst>
          </a:prstGeom>
          <a:solidFill>
            <a:srgbClr val="2D3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152376"/>
            <a:ext cx="1295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质量评分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41450" y="1152376"/>
            <a:ext cx="1295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11401" y="1152376"/>
            <a:ext cx="55703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自动决策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488877"/>
            <a:ext cx="8382000" cy="472976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1000" y="1957090"/>
            <a:ext cx="8382000" cy="0"/>
          </a:xfrm>
          <a:prstGeom prst="line">
            <a:avLst/>
          </a:prstGeom>
          <a:noFill/>
          <a:ln w="9525">
            <a:solidFill>
              <a:srgbClr val="2D3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1500" y="1615827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8.0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41450" y="1615827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11401" y="1615827"/>
            <a:ext cx="55703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直接开发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1961852"/>
            <a:ext cx="8382000" cy="472976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1000" y="2430066"/>
            <a:ext cx="8382000" cy="0"/>
          </a:xfrm>
          <a:prstGeom prst="line">
            <a:avLst/>
          </a:prstGeom>
          <a:noFill/>
          <a:ln w="9525">
            <a:solidFill>
              <a:srgbClr val="2D3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1500" y="2088803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8.0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41450" y="2088803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11401" y="2088803"/>
            <a:ext cx="55703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批准，可选审核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1000" y="2434828"/>
            <a:ext cx="8382000" cy="511076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81000" y="2941141"/>
            <a:ext cx="8382000" cy="0"/>
          </a:xfrm>
          <a:prstGeom prst="line">
            <a:avLst/>
          </a:prstGeom>
          <a:noFill/>
          <a:ln w="9525">
            <a:solidFill>
              <a:srgbClr val="2D3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1500" y="2561779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8.0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41450" y="2561779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11401" y="2561779"/>
            <a:ext cx="55703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0A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需要技术审核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1000" y="2945904"/>
            <a:ext cx="8382000" cy="511076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81000" y="3452217"/>
            <a:ext cx="8382000" cy="0"/>
          </a:xfrm>
          <a:prstGeom prst="line">
            <a:avLst/>
          </a:prstGeom>
          <a:noFill/>
          <a:ln w="9525">
            <a:solidFill>
              <a:srgbClr val="2D3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1500" y="3072854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6.0 - 7.9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41450" y="3072854"/>
            <a:ext cx="1295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11401" y="3072854"/>
            <a:ext cx="55703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0A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需要技术审核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1000" y="3456980"/>
            <a:ext cx="8382000" cy="472976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81000" y="3925193"/>
            <a:ext cx="8382000" cy="0"/>
          </a:xfrm>
          <a:prstGeom prst="line">
            <a:avLst/>
          </a:prstGeom>
          <a:noFill/>
          <a:ln w="9525">
            <a:solidFill>
              <a:srgbClr val="2D3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1500" y="3583930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6.0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41450" y="3583930"/>
            <a:ext cx="1295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11401" y="3583930"/>
            <a:ext cx="55703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打回重写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1000" y="4183856"/>
            <a:ext cx="8382000" cy="628650"/>
          </a:xfrm>
          <a:prstGeom prst="roundRect">
            <a:avLst>
              <a:gd name="adj" fmla="val 16162"/>
            </a:avLst>
          </a:prstGeom>
          <a:solidFill>
            <a:srgbClr val="2D4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04813" y="4183856"/>
            <a:ext cx="0" cy="628650"/>
          </a:xfrm>
          <a:prstGeom prst="line">
            <a:avLst/>
          </a:prstGeom>
          <a:noFill/>
          <a:ln w="47625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2526" y="4374356"/>
            <a:ext cx="79831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质量不达标？自动打回，不用人盯！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 vs 解决方案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962025"/>
            <a:ext cx="2920901" cy="463451"/>
          </a:xfrm>
          <a:prstGeom prst="roundRect">
            <a:avLst>
              <a:gd name="adj" fmla="val 21923"/>
            </a:avLst>
          </a:prstGeom>
          <a:solidFill>
            <a:srgbClr val="4A2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088975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需求文档不完整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01901" y="962025"/>
            <a:ext cx="5461099" cy="463451"/>
          </a:xfrm>
          <a:prstGeom prst="rect">
            <a:avLst/>
          </a:prstGeom>
          <a:solidFill>
            <a:srgbClr val="2D4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92401" y="1088975"/>
            <a:ext cx="51817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Agent 强制模板输出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552426"/>
            <a:ext cx="2920901" cy="463451"/>
          </a:xfrm>
          <a:prstGeom prst="roundRect">
            <a:avLst>
              <a:gd name="adj" fmla="val 21923"/>
            </a:avLst>
          </a:prstGeom>
          <a:solidFill>
            <a:srgbClr val="4A2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500" y="1679377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文档更新不及时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01901" y="1552426"/>
            <a:ext cx="5461099" cy="463451"/>
          </a:xfrm>
          <a:prstGeom prst="rect">
            <a:avLst/>
          </a:prstGeom>
          <a:solidFill>
            <a:srgbClr val="2D4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92401" y="1679377"/>
            <a:ext cx="51817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文档驱动开发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2142827"/>
            <a:ext cx="2920901" cy="463451"/>
          </a:xfrm>
          <a:prstGeom prst="roundRect">
            <a:avLst>
              <a:gd name="adj" fmla="val 21923"/>
            </a:avLst>
          </a:prstGeom>
          <a:solidFill>
            <a:srgbClr val="4A2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500" y="2269778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跨部门沟通低效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01901" y="2142827"/>
            <a:ext cx="5461099" cy="463451"/>
          </a:xfrm>
          <a:prstGeom prst="rect">
            <a:avLst/>
          </a:prstGeom>
          <a:solidFill>
            <a:srgbClr val="2D4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92401" y="2269778"/>
            <a:ext cx="51817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Handoff 自动交接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1000" y="2733229"/>
            <a:ext cx="2920901" cy="463451"/>
          </a:xfrm>
          <a:prstGeom prst="roundRect">
            <a:avLst>
              <a:gd name="adj" fmla="val 21923"/>
            </a:avLst>
          </a:prstGeom>
          <a:solidFill>
            <a:srgbClr val="4A2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500" y="2860179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走过场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01901" y="2733229"/>
            <a:ext cx="5461099" cy="463451"/>
          </a:xfrm>
          <a:prstGeom prst="rect">
            <a:avLst/>
          </a:prstGeom>
          <a:solidFill>
            <a:srgbClr val="2D4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92401" y="2860179"/>
            <a:ext cx="51817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强制 QA 审查门禁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1000" y="3323630"/>
            <a:ext cx="2920901" cy="463451"/>
          </a:xfrm>
          <a:prstGeom prst="roundRect">
            <a:avLst>
              <a:gd name="adj" fmla="val 21923"/>
            </a:avLst>
          </a:prstGeom>
          <a:solidFill>
            <a:srgbClr val="4A2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1500" y="3450580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新人上手慢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01901" y="3323630"/>
            <a:ext cx="5461099" cy="463451"/>
          </a:xfrm>
          <a:prstGeom prst="rect">
            <a:avLst/>
          </a:prstGeom>
          <a:solidFill>
            <a:srgbClr val="2D4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92401" y="3450580"/>
            <a:ext cx="51817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标准化流程 + AI 辅助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1000" y="3914031"/>
            <a:ext cx="2920901" cy="463451"/>
          </a:xfrm>
          <a:prstGeom prst="roundRect">
            <a:avLst>
              <a:gd name="adj" fmla="val 21923"/>
            </a:avLst>
          </a:prstGeom>
          <a:solidFill>
            <a:srgbClr val="4A2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71500" y="4040981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进度难追踪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01901" y="3914031"/>
            <a:ext cx="5461099" cy="463451"/>
          </a:xfrm>
          <a:prstGeom prst="rect">
            <a:avLst/>
          </a:prstGeom>
          <a:solidFill>
            <a:srgbClr val="2D4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92401" y="4040981"/>
            <a:ext cx="51817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8个明确状态，实时可见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454" y="1665238"/>
            <a:ext cx="1037433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7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653284" y="2839938"/>
            <a:ext cx="187402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现场演示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 1：需求生成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25426"/>
            <a:ext cx="4572149" cy="800100"/>
          </a:xfrm>
          <a:prstGeom prst="roundRect">
            <a:avLst>
              <a:gd name="adj" fmla="val 1269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025426"/>
            <a:ext cx="0" cy="800100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600" y="1215926"/>
            <a:ext cx="42361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@pm "设计一个玩家背包系统，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425476"/>
            <a:ext cx="42361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支持道具堆叠和快捷栏"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016026"/>
            <a:ext cx="46635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产出（实时）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2390626"/>
            <a:ext cx="2589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4901" y="2395389"/>
            <a:ext cx="634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功能清单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2711202"/>
            <a:ext cx="2589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4901" y="2715964"/>
            <a:ext cx="7928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优先级矩阵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3031778"/>
            <a:ext cx="2589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4901" y="3036540"/>
            <a:ext cx="634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验收标准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000" y="3352354"/>
            <a:ext cx="2589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4901" y="3357116"/>
            <a:ext cx="634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边界条件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07050" y="1025426"/>
            <a:ext cx="3555950" cy="1190625"/>
          </a:xfrm>
          <a:prstGeom prst="roundRect">
            <a:avLst>
              <a:gd name="adj" fmla="val 8533"/>
            </a:avLst>
          </a:prstGeom>
          <a:solidFill>
            <a:srgbClr val="2D4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30862" y="1025426"/>
            <a:ext cx="0" cy="1190625"/>
          </a:xfrm>
          <a:prstGeom prst="line">
            <a:avLst/>
          </a:prstGeom>
          <a:noFill/>
          <a:ln w="47625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13901" y="1215926"/>
            <a:ext cx="31898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13901" y="1501676"/>
            <a:ext cx="3189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13901" y="1739801"/>
            <a:ext cx="31898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策划2天工作量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 2：Story 自动评估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25426"/>
            <a:ext cx="4572149" cy="590550"/>
          </a:xfrm>
          <a:prstGeom prst="roundRect">
            <a:avLst>
              <a:gd name="adj" fmla="val 1720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025426"/>
            <a:ext cx="0" cy="590550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600" y="1215926"/>
            <a:ext cx="42361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@sm *draft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1806476"/>
            <a:ext cx="46635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自动执行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2181076"/>
            <a:ext cx="2589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4901" y="2185839"/>
            <a:ext cx="17442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结构验证（模板完整性）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2501652"/>
            <a:ext cx="2589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4901" y="2506414"/>
            <a:ext cx="20613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技术提取（从架构抽取细节）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2822228"/>
            <a:ext cx="2589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4901" y="2826990"/>
            <a:ext cx="19892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复杂度评估（7个风险指标）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1000" y="3142804"/>
            <a:ext cx="2589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4901" y="3147566"/>
            <a:ext cx="19890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智能决策（批准/审核/打回）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07050" y="1025426"/>
            <a:ext cx="3555950" cy="1003102"/>
          </a:xfrm>
          <a:prstGeom prst="roundRect">
            <a:avLst>
              <a:gd name="adj" fmla="val 10129"/>
            </a:avLst>
          </a:prstGeom>
          <a:solidFill>
            <a:srgbClr val="4A2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230862" y="1025426"/>
            <a:ext cx="0" cy="1003102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78570" y="1279327"/>
            <a:ext cx="30605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质量不达标？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78570" y="1526977"/>
            <a:ext cx="30605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自动打回！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 3：全自动协作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31950" y="1025426"/>
            <a:ext cx="2495550" cy="1034951"/>
          </a:xfrm>
          <a:prstGeom prst="rect">
            <a:avLst/>
          </a:prstGeom>
          <a:solidFill>
            <a:srgbClr val="1A2332"/>
          </a:solidFill>
          <a:ln w="9525">
            <a:solidFill>
              <a:srgbClr val="2D3D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94409" y="1306413"/>
            <a:ext cx="7858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94720" y="1579364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技术审核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27500" y="1025426"/>
            <a:ext cx="2495550" cy="1034951"/>
          </a:xfrm>
          <a:prstGeom prst="rect">
            <a:avLst/>
          </a:prstGeom>
          <a:solidFill>
            <a:srgbClr val="1A2332"/>
          </a:solidFill>
          <a:ln w="9525">
            <a:solidFill>
              <a:srgbClr val="2D3D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12160" y="1306413"/>
            <a:ext cx="3326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90270" y="1579364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编码实现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31950" y="2060377"/>
            <a:ext cx="2495550" cy="1034951"/>
          </a:xfrm>
          <a:prstGeom prst="rect">
            <a:avLst/>
          </a:prstGeom>
          <a:solidFill>
            <a:srgbClr val="1A2332"/>
          </a:solidFill>
          <a:ln w="9525">
            <a:solidFill>
              <a:srgbClr val="2D3D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46375" y="2341364"/>
            <a:ext cx="2720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94720" y="2614315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任务拆分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7500" y="2060377"/>
            <a:ext cx="2495550" cy="1034951"/>
          </a:xfrm>
          <a:prstGeom prst="rect">
            <a:avLst/>
          </a:prstGeom>
          <a:solidFill>
            <a:srgbClr val="1A2332"/>
          </a:solidFill>
          <a:ln w="9525">
            <a:solidFill>
              <a:srgbClr val="2D3D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41925" y="2341364"/>
            <a:ext cx="2720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90270" y="2614315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05259" y="3349228"/>
            <a:ext cx="37333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SM创建 → Architect审 → Dev写 → QA测 → 自动提交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33352" y="3749278"/>
            <a:ext cx="20772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人类可以去喝咖啡了 :)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454" y="1665238"/>
            <a:ext cx="1037433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7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166193" y="2839938"/>
            <a:ext cx="490784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youlidao.ai 图形化使用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youlidao.ai 核心价值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88975"/>
            <a:ext cx="2793950" cy="2180927"/>
          </a:xfrm>
          <a:prstGeom prst="roundRect">
            <a:avLst>
              <a:gd name="adj" fmla="val 465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112788"/>
            <a:ext cx="2793950" cy="0"/>
          </a:xfrm>
          <a:prstGeom prst="line">
            <a:avLst/>
          </a:prstGeom>
          <a:noFill/>
          <a:ln w="47625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2039" y="1390501"/>
            <a:ext cx="233187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3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⊞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12039" y="2069902"/>
            <a:ext cx="23318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039" y="2482602"/>
            <a:ext cx="2331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拖拽式交互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039" y="2682627"/>
            <a:ext cx="2331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不用命令行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74950" y="1088975"/>
            <a:ext cx="2793950" cy="2180927"/>
          </a:xfrm>
          <a:prstGeom prst="roundRect">
            <a:avLst>
              <a:gd name="adj" fmla="val 465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174950" y="1112788"/>
            <a:ext cx="2793950" cy="0"/>
          </a:xfrm>
          <a:prstGeom prst="line">
            <a:avLst/>
          </a:prstGeom>
          <a:noFill/>
          <a:ln w="47625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05990" y="1390501"/>
            <a:ext cx="233187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3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05990" y="2069902"/>
            <a:ext cx="23318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05990" y="2482602"/>
            <a:ext cx="2331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多人同时操作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5990" y="2682627"/>
            <a:ext cx="2331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评论和反馈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68901" y="1088975"/>
            <a:ext cx="2793950" cy="2180927"/>
          </a:xfrm>
          <a:prstGeom prst="roundRect">
            <a:avLst>
              <a:gd name="adj" fmla="val 465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68901" y="1112788"/>
            <a:ext cx="2793950" cy="0"/>
          </a:xfrm>
          <a:prstGeom prst="line">
            <a:avLst/>
          </a:prstGeom>
          <a:noFill/>
          <a:ln w="47625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9940" y="1390501"/>
            <a:ext cx="233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3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99940" y="2203252"/>
            <a:ext cx="23318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进度可视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99940" y="2615952"/>
            <a:ext cx="2331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看板视图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940" y="2815977"/>
            <a:ext cx="2331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状态一目了然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分阶段落地路径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25426"/>
            <a:ext cx="1968401" cy="1783854"/>
          </a:xfrm>
          <a:prstGeom prst="roundRect">
            <a:avLst>
              <a:gd name="adj" fmla="val 5696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025426"/>
            <a:ext cx="1968401" cy="745927"/>
          </a:xfrm>
          <a:prstGeom prst="rect">
            <a:avLst/>
          </a:prstGeom>
          <a:solidFill>
            <a:srgbClr val="2D3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0805" y="1152376"/>
            <a:ext cx="17487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0805" y="1463427"/>
            <a:ext cx="17487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3400" y="1923752"/>
            <a:ext cx="16968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目标：初步感受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3400" y="2168128"/>
            <a:ext cx="16968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选一个小功能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3400" y="2412504"/>
            <a:ext cx="16968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跑一遍流程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8767" y="1025426"/>
            <a:ext cx="1968401" cy="1783854"/>
          </a:xfrm>
          <a:prstGeom prst="roundRect">
            <a:avLst>
              <a:gd name="adj" fmla="val 5696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18767" y="1025426"/>
            <a:ext cx="1968401" cy="745927"/>
          </a:xfrm>
          <a:prstGeom prst="rect">
            <a:avLst/>
          </a:prstGeom>
          <a:solidFill>
            <a:srgbClr val="2D3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28573" y="1152376"/>
            <a:ext cx="17487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试点期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28573" y="1463427"/>
            <a:ext cx="17487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71167" y="1923752"/>
            <a:ext cx="16968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目标：真实验证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71167" y="2168128"/>
            <a:ext cx="16968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非核心模块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71167" y="2412504"/>
            <a:ext cx="16968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完整走流程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56534" y="1025426"/>
            <a:ext cx="1968401" cy="1783854"/>
          </a:xfrm>
          <a:prstGeom prst="roundRect">
            <a:avLst>
              <a:gd name="adj" fmla="val 5696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56534" y="1025426"/>
            <a:ext cx="1968401" cy="745927"/>
          </a:xfrm>
          <a:prstGeom prst="rect">
            <a:avLst/>
          </a:prstGeom>
          <a:solidFill>
            <a:srgbClr val="2D3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66340" y="1152376"/>
            <a:ext cx="17487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推广期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66340" y="1463427"/>
            <a:ext cx="17487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8934" y="1923752"/>
            <a:ext cx="16968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目标：扩大范围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8934" y="2168128"/>
            <a:ext cx="16968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更多模块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8934" y="2412504"/>
            <a:ext cx="16968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更多成员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94302" y="1025426"/>
            <a:ext cx="1968401" cy="1783854"/>
          </a:xfrm>
          <a:prstGeom prst="roundRect">
            <a:avLst>
              <a:gd name="adj" fmla="val 5696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94302" y="1025426"/>
            <a:ext cx="1968401" cy="745927"/>
          </a:xfrm>
          <a:prstGeom prst="rect">
            <a:avLst/>
          </a:prstGeom>
          <a:solidFill>
            <a:srgbClr val="2D3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04107" y="1152376"/>
            <a:ext cx="17487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定制期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4107" y="1463427"/>
            <a:ext cx="17487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6702" y="1923752"/>
            <a:ext cx="16968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目标：深度优化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6702" y="2168128"/>
            <a:ext cx="16968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游戏专用Agent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6702" y="2412504"/>
            <a:ext cx="16968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定制工作流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预期效果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62025"/>
            <a:ext cx="40158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336625"/>
            <a:ext cx="3937099" cy="463451"/>
          </a:xfrm>
          <a:prstGeom prst="roundRect">
            <a:avLst>
              <a:gd name="adj" fmla="val 1644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1463576"/>
            <a:ext cx="634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需求文档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57935" y="1463576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1901577"/>
            <a:ext cx="3937099" cy="463451"/>
          </a:xfrm>
          <a:prstGeom prst="roundRect">
            <a:avLst>
              <a:gd name="adj" fmla="val 1644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8450" y="2028527"/>
            <a:ext cx="634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57935" y="2028527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2466529"/>
            <a:ext cx="3937099" cy="463451"/>
          </a:xfrm>
          <a:prstGeom prst="roundRect">
            <a:avLst>
              <a:gd name="adj" fmla="val 1644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8450" y="2593479"/>
            <a:ext cx="634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任务拆分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56757" y="2593479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950" y="3031480"/>
            <a:ext cx="3937099" cy="463451"/>
          </a:xfrm>
          <a:prstGeom prst="roundRect">
            <a:avLst>
              <a:gd name="adj" fmla="val 1644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8450" y="3158430"/>
            <a:ext cx="634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新人上手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56757" y="3158430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98950" y="962025"/>
            <a:ext cx="40158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质量提升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98950" y="1336625"/>
            <a:ext cx="3937099" cy="615851"/>
          </a:xfrm>
          <a:prstGeom prst="roundRect">
            <a:avLst>
              <a:gd name="adj" fmla="val 1237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89450" y="1463576"/>
            <a:ext cx="700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CR通过率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89450" y="1673126"/>
            <a:ext cx="700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60-70%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6048" y="1568351"/>
            <a:ext cx="5502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90%+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98950" y="2053977"/>
            <a:ext cx="3937099" cy="615851"/>
          </a:xfrm>
          <a:prstGeom prst="roundRect">
            <a:avLst>
              <a:gd name="adj" fmla="val 1237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89450" y="2180927"/>
            <a:ext cx="7928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文档完整率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89450" y="2390477"/>
            <a:ext cx="7928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40-60%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6048" y="2285702"/>
            <a:ext cx="5502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95%+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98950" y="2771329"/>
            <a:ext cx="3937099" cy="615851"/>
          </a:xfrm>
          <a:prstGeom prst="roundRect">
            <a:avLst>
              <a:gd name="adj" fmla="val 1237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89450" y="2898279"/>
            <a:ext cx="4909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返工率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89450" y="3107829"/>
            <a:ext cx="4909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6048" y="3003054"/>
            <a:ext cx="5502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&lt;10%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互动环节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25426"/>
            <a:ext cx="8382000" cy="666750"/>
          </a:xfrm>
          <a:prstGeom prst="roundRect">
            <a:avLst>
              <a:gd name="adj" fmla="val 15238"/>
            </a:avLst>
          </a:prstGeom>
          <a:solidFill>
            <a:srgbClr val="2D4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1025426"/>
            <a:ext cx="0" cy="666750"/>
          </a:xfrm>
          <a:prstGeom prst="line">
            <a:avLst/>
          </a:prstGeom>
          <a:noFill/>
          <a:ln w="47625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4260" y="1215926"/>
            <a:ext cx="79831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"给我一个你们正在做的功能，我现场演示"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1946077"/>
            <a:ext cx="3682901" cy="463451"/>
          </a:xfrm>
          <a:prstGeom prst="roundRect">
            <a:avLst>
              <a:gd name="adj" fmla="val 2192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2073027"/>
            <a:ext cx="33679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 Cursor 什么区别？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901" y="1946077"/>
            <a:ext cx="4699099" cy="463451"/>
          </a:xfrm>
          <a:prstGeom prst="rect">
            <a:avLst/>
          </a:prstGeom>
          <a:solidFill>
            <a:srgbClr val="2D3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54401" y="2073027"/>
            <a:ext cx="44044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 vs 团队。Cursor是1个人，我们是1支队伍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2536478"/>
            <a:ext cx="3682901" cy="463451"/>
          </a:xfrm>
          <a:prstGeom prst="roundRect">
            <a:avLst>
              <a:gd name="adj" fmla="val 2192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2663428"/>
            <a:ext cx="33679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会不会限制创造力？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901" y="2536478"/>
            <a:ext cx="4699099" cy="463451"/>
          </a:xfrm>
          <a:prstGeom prst="rect">
            <a:avLst/>
          </a:prstGeom>
          <a:solidFill>
            <a:srgbClr val="2D3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54401" y="2663428"/>
            <a:ext cx="44044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标准化的是流程，不是创意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000" y="3126879"/>
            <a:ext cx="3682901" cy="463451"/>
          </a:xfrm>
          <a:prstGeom prst="roundRect">
            <a:avLst>
              <a:gd name="adj" fmla="val 2192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1500" y="3253829"/>
            <a:ext cx="33679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成本怎么算？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901" y="3126879"/>
            <a:ext cx="4699099" cy="463451"/>
          </a:xfrm>
          <a:prstGeom prst="rect">
            <a:avLst/>
          </a:prstGeom>
          <a:solidFill>
            <a:srgbClr val="2D3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254401" y="3253829"/>
            <a:ext cx="44044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开源免费 + API费用。10x效率远超成本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1483" y="1924050"/>
            <a:ext cx="35610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3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"把团队最好的工作方式，
</a:t>
            </a:r>
            <a:r>
              <a:rPr lang="en-US" sz="2400" b="1" i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固化成 AI 能执行的标准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847725"/>
            <a:ext cx="5778550" cy="930176"/>
          </a:xfrm>
          <a:prstGeom prst="roundRect">
            <a:avLst>
              <a:gd name="adj" fmla="val 819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847725"/>
            <a:ext cx="0" cy="930176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600" y="974675"/>
            <a:ext cx="54666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184225"/>
            <a:ext cx="546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立即体验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1450925"/>
            <a:ext cx="54666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 youlidao.ai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1000" y="1904851"/>
            <a:ext cx="5778550" cy="930176"/>
          </a:xfrm>
          <a:prstGeom prst="roundRect">
            <a:avLst>
              <a:gd name="adj" fmla="val 819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1904851"/>
            <a:ext cx="0" cy="930176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9600" y="2031802"/>
            <a:ext cx="54666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2241352"/>
            <a:ext cx="546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试点项目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600" y="2508052"/>
            <a:ext cx="54666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选一个小功能，1-2周见效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1000" y="2961977"/>
            <a:ext cx="5778550" cy="930176"/>
          </a:xfrm>
          <a:prstGeom prst="roundRect">
            <a:avLst>
              <a:gd name="adj" fmla="val 819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2961977"/>
            <a:ext cx="0" cy="930176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9600" y="3088928"/>
            <a:ext cx="54666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600" y="3298478"/>
            <a:ext cx="546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深度合作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600" y="3565178"/>
            <a:ext cx="54666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探讨游戏开发专属扩展</a:t>
            </a:r>
            <a:endParaRPr lang="en-US" sz="1100" dirty="0"/>
          </a:p>
        </p:txBody>
      </p:sp>
      <p:pic>
        <p:nvPicPr>
          <p:cNvPr id="22" name="Picture 21" descr="A screenshot of a qr code&#10;&#10;Description automatically generated">
            <a:extLst>
              <a:ext uri="{FF2B5EF4-FFF2-40B4-BE49-F238E27FC236}">
                <a16:creationId xmlns:a16="http://schemas.microsoft.com/office/drawing/2014/main" id="{FE760F22-48FA-9445-421C-D9AC3BE75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548" y="249616"/>
            <a:ext cx="2711748" cy="36425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1898" y="1685925"/>
            <a:ext cx="312140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252341" y="2797076"/>
            <a:ext cx="26921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Orchestrix</a:t>
            </a: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youlidao.ai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86225" y="3219301"/>
            <a:ext cx="9908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youlidao.ai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585</Words>
  <Application>Microsoft Macintosh PowerPoint</Application>
  <PresentationFormat>On-screen Show (16:9)</PresentationFormat>
  <Paragraphs>303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youlidao.ai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AI多智能体协作重塑游戏研发流程</dc:title>
  <dc:subject>游戏开发团队培训材料</dc:subject>
  <dc:creator>Orchestrix x youlidao.ai</dc:creator>
  <cp:lastModifiedBy>a7608</cp:lastModifiedBy>
  <cp:revision>4</cp:revision>
  <dcterms:created xsi:type="dcterms:W3CDTF">2026-01-14T01:42:06Z</dcterms:created>
  <dcterms:modified xsi:type="dcterms:W3CDTF">2026-01-14T01:48:19Z</dcterms:modified>
</cp:coreProperties>
</file>