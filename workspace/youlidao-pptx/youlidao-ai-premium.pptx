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825401" y="7874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053852" y="762000"/>
            <a:ext cx="1337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25401" y="1041350"/>
            <a:ext cx="84849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驱动的软件公司</a:t>
            </a:r>
            <a:endParaRPr lang="en-US" sz="4200" dirty="0"/>
          </a:p>
        </p:txBody>
      </p:sp>
      <p:pic>
        <p:nvPicPr>
          <p:cNvPr id="8" name="Image 2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01" y="2082701"/>
            <a:ext cx="1524000" cy="38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5401" y="2412802"/>
            <a:ext cx="848497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位专业 AI 工程师组成的团队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25401" y="2788593"/>
            <a:ext cx="848497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实时为你开发软件，全程透明可见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5401" y="465772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003102" y="4629150"/>
            <a:ext cx="1947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CENTER  |  READY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7150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815876"/>
            <a:ext cx="79020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软件开发，为什么这么痛？</a:t>
            </a:r>
            <a:endParaRPr lang="en-US" sz="3200" dirty="0"/>
          </a:p>
        </p:txBody>
      </p:sp>
      <p:pic>
        <p:nvPicPr>
          <p:cNvPr id="5" name="Image 1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50" y="1596926"/>
            <a:ext cx="1015901" cy="25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450" y="2041327"/>
            <a:ext cx="2413099" cy="1869579"/>
          </a:xfrm>
          <a:prstGeom prst="roundRect">
            <a:avLst>
              <a:gd name="adj" fmla="val 5434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98450" y="2060377"/>
            <a:ext cx="2413099" cy="0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106787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8450" y="3906143"/>
            <a:ext cx="2413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3213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36575" y="2358777"/>
            <a:ext cx="1975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200万+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936575" y="2939802"/>
            <a:ext cx="19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年均人力成本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36575" y="3241328"/>
            <a:ext cx="197558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5 人技术团队的年薪、社保、管理成本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65450" y="2041327"/>
            <a:ext cx="2413099" cy="1869579"/>
          </a:xfrm>
          <a:prstGeom prst="roundRect">
            <a:avLst>
              <a:gd name="adj" fmla="val 5434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3365450" y="2060377"/>
            <a:ext cx="2413099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73787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65450" y="3906143"/>
            <a:ext cx="2413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70213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03575" y="2358777"/>
            <a:ext cx="1975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个月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603575" y="2939802"/>
            <a:ext cx="19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平均交付周期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03575" y="3241328"/>
            <a:ext cx="197558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从需求确认到 MVP 上线的漫长等待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032450" y="2041327"/>
            <a:ext cx="2413099" cy="1869579"/>
          </a:xfrm>
          <a:prstGeom prst="roundRect">
            <a:avLst>
              <a:gd name="adj" fmla="val 5434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6032450" y="2060377"/>
            <a:ext cx="2413099" cy="0"/>
          </a:xfrm>
          <a:prstGeom prst="line">
            <a:avLst/>
          </a:prstGeom>
          <a:noFill/>
          <a:ln w="38100">
            <a:solidFill>
              <a:srgbClr val="6C63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440787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32450" y="3906143"/>
            <a:ext cx="2413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37213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70575" y="2358777"/>
            <a:ext cx="197558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800" dirty="0"/>
          </a:p>
        </p:txBody>
      </p:sp>
      <p:sp>
        <p:nvSpPr>
          <p:cNvPr id="28" name="Text 24"/>
          <p:cNvSpPr/>
          <p:nvPr/>
        </p:nvSpPr>
        <p:spPr>
          <a:xfrm>
            <a:off x="6270575" y="2844552"/>
            <a:ext cx="19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非编码时间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270575" y="3146078"/>
            <a:ext cx="197558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沟通、会议、返工、等待确认消耗大量时间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20979" y="4190256"/>
            <a:ext cx="79020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传统软件开发中，写代码只占总时间的 20%，剩下的 80% 都在沟通和返工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7150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815876"/>
            <a:ext cx="79020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 AI 工具，只解决了冰山一角</a:t>
            </a:r>
            <a:endParaRPr lang="en-US" sz="3000" dirty="0"/>
          </a:p>
        </p:txBody>
      </p:sp>
      <p:pic>
        <p:nvPicPr>
          <p:cNvPr id="5" name="Image 1" descr="/Users/dorayo/Codes/Orchestrix/workspace/youlidao-pptx/assets/accent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50" y="1558826"/>
            <a:ext cx="1015901" cy="25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450" y="1939677"/>
            <a:ext cx="1156395" cy="634901"/>
          </a:xfrm>
          <a:prstGeom prst="rect">
            <a:avLst/>
          </a:prstGeom>
          <a:solidFill>
            <a:srgbClr val="2D1B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170689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854845" y="1939677"/>
            <a:ext cx="1002209" cy="634901"/>
          </a:xfrm>
          <a:prstGeom prst="rect">
            <a:avLst/>
          </a:prstGeom>
          <a:solidFill>
            <a:srgbClr val="2A1B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249991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857054" y="1939677"/>
            <a:ext cx="925116" cy="634901"/>
          </a:xfrm>
          <a:prstGeom prst="rect">
            <a:avLst/>
          </a:prstGeom>
          <a:solidFill>
            <a:srgbClr val="271A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181469" y="2128540"/>
            <a:ext cx="2762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782169" y="1939677"/>
            <a:ext cx="1002209" cy="634901"/>
          </a:xfrm>
          <a:prstGeom prst="rect">
            <a:avLst/>
          </a:prstGeom>
          <a:solidFill>
            <a:srgbClr val="2419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177315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784378" y="1939677"/>
            <a:ext cx="1579811" cy="634901"/>
          </a:xfrm>
          <a:prstGeom prst="rect">
            <a:avLst/>
          </a:prstGeom>
          <a:solidFill>
            <a:srgbClr val="6C63FF"/>
          </a:solidFill>
          <a:ln w="19050">
            <a:solidFill>
              <a:srgbClr val="00D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336177" y="2176165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编码实现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364188" y="1939677"/>
            <a:ext cx="1079153" cy="634901"/>
          </a:xfrm>
          <a:prstGeom prst="rect">
            <a:avLst/>
          </a:prstGeom>
          <a:solidFill>
            <a:srgbClr val="2419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797881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443341" y="1939677"/>
            <a:ext cx="1002209" cy="634901"/>
          </a:xfrm>
          <a:prstGeom prst="rect">
            <a:avLst/>
          </a:prstGeom>
          <a:solidFill>
            <a:srgbClr val="271A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838487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556843" y="2726978"/>
            <a:ext cx="20709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/ Copilot / Replit 只覆盖高亮部分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98450" y="3117503"/>
            <a:ext cx="7747099" cy="1406277"/>
          </a:xfrm>
          <a:prstGeom prst="roundRect">
            <a:avLst>
              <a:gd name="adj" fmla="val 7225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698450" y="3122265"/>
            <a:ext cx="7747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440787" y="3117503"/>
            <a:ext cx="0" cy="140627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8450" y="4519017"/>
            <a:ext cx="7747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7500" y="3117503"/>
            <a:ext cx="0" cy="1406277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54001" y="3380929"/>
            <a:ext cx="72058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市场需要什么？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54001" y="3717429"/>
            <a:ext cx="72058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一个覆盖</a:t>
            </a:r>
            <a:pPr algn="l" indent="0" marL="0">
              <a:lnSpc>
                <a:spcPts val="2250"/>
              </a:lnSpc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完整软件开发生命周期</a:t>
            </a:r>
            <a:pPr algn="l" indent="0" marL="0">
              <a:lnSpc>
                <a:spcPts val="225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 AI 解决方案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054001" y="4079379"/>
            <a:ext cx="72058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不只是写代码，而是从需求分析到测试部署的全流程 AI 协作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83955" y="763488"/>
            <a:ext cx="1607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398371" y="1058763"/>
            <a:ext cx="634725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全球首个「透明 AI 软件公司」</a:t>
            </a:r>
            <a:endParaRPr lang="en-US" sz="3600" dirty="0"/>
          </a:p>
        </p:txBody>
      </p:sp>
      <p:pic>
        <p:nvPicPr>
          <p:cNvPr id="6" name="Image 2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50" y="1969889"/>
            <a:ext cx="1269950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1656" y="2363539"/>
            <a:ext cx="1621780" cy="2016472"/>
          </a:xfrm>
          <a:prstGeom prst="roundRect">
            <a:avLst>
              <a:gd name="adj" fmla="val 7831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2369046" y="2652415"/>
            <a:ext cx="527000" cy="527000"/>
          </a:xfrm>
          <a:prstGeom prst="roundRect">
            <a:avLst>
              <a:gd name="adj" fmla="val 17351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2567650" y="278249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2022367" y="3306366"/>
            <a:ext cx="122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AI 团队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022367" y="3611166"/>
            <a:ext cx="12203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位各司其职的 AI 工程师</a:t>
            </a:r>
            <a:endParaRPr lang="en-US" sz="900" dirty="0"/>
          </a:p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模拟真实软件公司分工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3760887" y="2363539"/>
            <a:ext cx="1621929" cy="2016472"/>
          </a:xfrm>
          <a:prstGeom prst="roundRect">
            <a:avLst>
              <a:gd name="adj" fmla="val 7830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308277" y="2652415"/>
            <a:ext cx="527000" cy="527000"/>
          </a:xfrm>
          <a:prstGeom prst="roundRect">
            <a:avLst>
              <a:gd name="adj" fmla="val 173510"/>
            </a:avLst>
          </a:prstGeom>
          <a:solidFill>
            <a:srgbClr val="00D2FF">
              <a:alpha val="15000"/>
            </a:srgbClr>
          </a:solidFill>
          <a:ln w="9525">
            <a:solidFill>
              <a:srgbClr val="00D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506880" y="278249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961596" y="3306366"/>
            <a:ext cx="12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标准化全流程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61596" y="3611166"/>
            <a:ext cx="1220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从需求分析到测试上线</a:t>
            </a:r>
            <a:endParaRPr lang="en-US" sz="900" dirty="0"/>
          </a:p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步标准工作流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700266" y="2363539"/>
            <a:ext cx="1621929" cy="2016472"/>
          </a:xfrm>
          <a:prstGeom prst="roundRect">
            <a:avLst>
              <a:gd name="adj" fmla="val 7830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247656" y="2652415"/>
            <a:ext cx="527000" cy="527000"/>
          </a:xfrm>
          <a:prstGeom prst="roundRect">
            <a:avLst>
              <a:gd name="adj" fmla="val 173510"/>
            </a:avLst>
          </a:prstGeom>
          <a:solidFill>
            <a:srgbClr val="FFB84D">
              <a:alpha val="15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354875" y="2811066"/>
            <a:ext cx="312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900976" y="3306366"/>
            <a:ext cx="12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透明厨房模式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00976" y="3611166"/>
            <a:ext cx="1220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实时观看 AI 工作过程</a:t>
            </a:r>
            <a:endParaRPr lang="en-US" sz="900" dirty="0"/>
          </a:p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每一步都清晰可见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482501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701576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Orchestrix 协调引擎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450" y="1257151"/>
            <a:ext cx="79020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Orchestra（管弦乐团）+ Matrix（矩阵）= 精密协调的 AI 团队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8450" y="1692027"/>
            <a:ext cx="7747099" cy="803077"/>
          </a:xfrm>
          <a:prstGeom prst="roundRect">
            <a:avLst>
              <a:gd name="adj" fmla="val 12651"/>
            </a:avLst>
          </a:prstGeom>
          <a:solidFill>
            <a:srgbClr val="141B2D"/>
          </a:solidFill>
          <a:ln w="9525">
            <a:solidFill>
              <a:srgbClr val="6C63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55527" y="2022128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87277" y="1890415"/>
            <a:ext cx="25301" cy="40630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03078" y="1879253"/>
            <a:ext cx="5667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界面层  |  建造中心工作台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03078" y="2145953"/>
            <a:ext cx="5667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三区工作台 + AI 对话界面 + 实时状态面板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59427" y="2022128"/>
            <a:ext cx="635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你看到的一切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59350" y="2622054"/>
            <a:ext cx="25301" cy="1524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8450" y="2901404"/>
            <a:ext cx="7747099" cy="803077"/>
          </a:xfrm>
          <a:prstGeom prst="roundRect">
            <a:avLst>
              <a:gd name="adj" fmla="val 12651"/>
            </a:avLst>
          </a:prstGeom>
          <a:solidFill>
            <a:srgbClr val="141B2D"/>
          </a:solidFill>
          <a:ln w="9525">
            <a:solidFill>
              <a:srgbClr val="00D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55527" y="323150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7277" y="3099792"/>
            <a:ext cx="25301" cy="40630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03078" y="3088630"/>
            <a:ext cx="5879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流程层  |  Orchestrix 流程引擎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03078" y="3355330"/>
            <a:ext cx="587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标准化工作流 + 质量门禁 + 状态管理 + 文档模板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67042" y="3231505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质量保障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59350" y="3831431"/>
            <a:ext cx="25301" cy="152400"/>
          </a:xfrm>
          <a:prstGeom prst="rect">
            <a:avLst/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98450" y="4110782"/>
            <a:ext cx="7747099" cy="803077"/>
          </a:xfrm>
          <a:prstGeom prst="roundRect">
            <a:avLst>
              <a:gd name="adj" fmla="val 12651"/>
            </a:avLst>
          </a:prstGeom>
          <a:solidFill>
            <a:srgbClr val="141B2D"/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955527" y="444088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787277" y="4309170"/>
            <a:ext cx="25301" cy="40630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003078" y="4298007"/>
            <a:ext cx="5879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能力层  |  Claude AI 大模型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003078" y="4564707"/>
            <a:ext cx="587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理解语言 + 推理逻辑 + 生成代码 + 质量审查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67042" y="4440882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智能核心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4401"/>
            <a:ext cx="8161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TEAM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1500" y="663476"/>
            <a:ext cx="81610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 AI 工程师，各司其职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71500" y="139526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11101" y="1346002"/>
            <a:ext cx="16511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战略规划部 Strategic Planning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609427"/>
            <a:ext cx="1518940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71500" y="1618952"/>
            <a:ext cx="151894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8567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2607022"/>
            <a:ext cx="15189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26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557" y="1755428"/>
            <a:ext cx="13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9557" y="2072878"/>
            <a:ext cx="1322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9557" y="2244328"/>
            <a:ext cx="13228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市场调研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项目初探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191941" y="1609427"/>
            <a:ext cx="151908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2191941" y="1618952"/>
            <a:ext cx="151908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0626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91941" y="2607022"/>
            <a:ext cx="151908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9670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9996" y="1755428"/>
            <a:ext cx="13229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289996" y="2072878"/>
            <a:ext cx="1322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9996" y="2244328"/>
            <a:ext cx="13229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需求梳理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产品规划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812530" y="1609427"/>
            <a:ext cx="1518940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812530" y="1618952"/>
            <a:ext cx="151894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2670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12530" y="2607022"/>
            <a:ext cx="15189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1729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10587" y="1755428"/>
            <a:ext cx="13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910587" y="2072878"/>
            <a:ext cx="1322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UX-Expert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910587" y="2244328"/>
            <a:ext cx="13228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界面设计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交互规范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432971" y="1609427"/>
            <a:ext cx="151908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432971" y="1618952"/>
            <a:ext cx="151908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4729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32971" y="2607022"/>
            <a:ext cx="151908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3773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31026" y="1755428"/>
            <a:ext cx="13229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531026" y="2072878"/>
            <a:ext cx="1322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31026" y="2244328"/>
            <a:ext cx="13229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053560" y="1609427"/>
            <a:ext cx="1518940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7053560" y="1618952"/>
            <a:ext cx="151894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67738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53560" y="2607022"/>
            <a:ext cx="15189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832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51617" y="1755428"/>
            <a:ext cx="13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151617" y="2072878"/>
            <a:ext cx="1322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151617" y="2244328"/>
            <a:ext cx="13228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质量把关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优先管理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71500" y="283874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11101" y="2789486"/>
            <a:ext cx="13012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工程实施部 Engineering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71500" y="3052911"/>
            <a:ext cx="1563291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571500" y="3062436"/>
            <a:ext cx="1563291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130028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71500" y="4050506"/>
            <a:ext cx="1563291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76263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69113" y="3198912"/>
            <a:ext cx="136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669113" y="3516362"/>
            <a:ext cx="136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69113" y="3687812"/>
            <a:ext cx="136806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故事拆分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迭代管理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2236291" y="3052911"/>
            <a:ext cx="156343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5"/>
          <p:cNvSpPr/>
          <p:nvPr/>
        </p:nvSpPr>
        <p:spPr>
          <a:xfrm>
            <a:off x="2236291" y="3062436"/>
            <a:ext cx="1563439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794968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236291" y="4050506"/>
            <a:ext cx="156343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241054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333903" y="3198912"/>
            <a:ext cx="1368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2333903" y="3516362"/>
            <a:ext cx="1368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Arch-Eng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2333903" y="3687812"/>
            <a:ext cx="136821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技术评审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901232" y="3052911"/>
            <a:ext cx="156343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3"/>
          <p:cNvSpPr/>
          <p:nvPr/>
        </p:nvSpPr>
        <p:spPr>
          <a:xfrm>
            <a:off x="3901232" y="3062436"/>
            <a:ext cx="1563439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59909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901232" y="4050506"/>
            <a:ext cx="156343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905994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98844" y="3198912"/>
            <a:ext cx="1368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3998844" y="3516362"/>
            <a:ext cx="1368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998844" y="3687812"/>
            <a:ext cx="136821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功能开发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566172" y="3052911"/>
            <a:ext cx="156343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1"/>
          <p:cNvSpPr/>
          <p:nvPr/>
        </p:nvSpPr>
        <p:spPr>
          <a:xfrm>
            <a:off x="5566172" y="3062436"/>
            <a:ext cx="1563439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124849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566172" y="4050506"/>
            <a:ext cx="156343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570934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63784" y="3198912"/>
            <a:ext cx="1368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5663784" y="3516362"/>
            <a:ext cx="1368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663784" y="3687812"/>
            <a:ext cx="136821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700" dirty="0"/>
          </a:p>
          <a:p>
            <a:pPr algn="ctr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质量门禁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4401"/>
            <a:ext cx="8161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1500" y="663476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从想法到上线，8 步标准流程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44401" y="1358801"/>
            <a:ext cx="1903809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4401" y="2219027"/>
            <a:ext cx="190380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3087" y="1485751"/>
            <a:ext cx="1786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3087" y="1663452"/>
            <a:ext cx="1786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3087" y="1834902"/>
            <a:ext cx="17864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可行性评估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398961" y="1717477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1481" y="1358801"/>
            <a:ext cx="1903958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561481" y="2219027"/>
            <a:ext cx="1903958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20165" y="1485751"/>
            <a:ext cx="17865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20165" y="1663452"/>
            <a:ext cx="178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620165" y="1834902"/>
            <a:ext cx="17865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需求细化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功能规划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16189" y="1717477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78710" y="1358801"/>
            <a:ext cx="1903809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78710" y="2219027"/>
            <a:ext cx="190380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7396" y="1485751"/>
            <a:ext cx="1786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37396" y="1663452"/>
            <a:ext cx="1786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37396" y="1834902"/>
            <a:ext cx="17864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界面设计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交互规范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33270" y="1717477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95790" y="1358801"/>
            <a:ext cx="1903809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795790" y="2219027"/>
            <a:ext cx="190380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4476" y="1485751"/>
            <a:ext cx="1786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4476" y="1663452"/>
            <a:ext cx="1786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54476" y="1834902"/>
            <a:ext cx="17864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09046" y="2304752"/>
            <a:ext cx="128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07250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6807250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66050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866050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66050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质量验证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文档对齐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629400" y="2858691"/>
            <a:ext cx="12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86300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686300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45101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45101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45101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任务拆分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优先排序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508450" y="2858691"/>
            <a:ext cx="12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565350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2565350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624151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624151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624151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功能开发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387501" y="2858691"/>
            <a:ext cx="12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44401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44401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3201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03201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03201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质量门禁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434060" y="357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573661" y="354597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自动流转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242643" y="357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382244" y="354597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质量门禁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051227" y="357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190827" y="3545979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全程可追溯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4444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34901" y="663476"/>
            <a:ext cx="80316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三区工作台 · 全景掌控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34901" y="1371451"/>
            <a:ext cx="2092226" cy="2920901"/>
          </a:xfrm>
          <a:prstGeom prst="roundRect">
            <a:avLst>
              <a:gd name="adj" fmla="val 4856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2127" y="160153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74527" y="1558677"/>
            <a:ext cx="3571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档案室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127" y="1847552"/>
            <a:ext cx="1717774" cy="2032248"/>
          </a:xfrm>
          <a:prstGeom prst="roundRect">
            <a:avLst>
              <a:gd name="adj" fmla="val 2957"/>
            </a:avLst>
          </a:prstGeom>
          <a:solidFill>
            <a:srgbClr val="0D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3627" y="1949053"/>
            <a:ext cx="1545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99827" y="2079129"/>
            <a:ext cx="1467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76027" y="2209205"/>
            <a:ext cx="1389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Header.tsx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076027" y="2339280"/>
            <a:ext cx="1389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Footer.tsx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999827" y="2469356"/>
            <a:ext cx="1467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076027" y="2599432"/>
            <a:ext cx="1389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B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index.tsx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04949" y="3981301"/>
            <a:ext cx="17521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实时查看每一个文件变化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854077" y="1371451"/>
            <a:ext cx="3092202" cy="1182291"/>
          </a:xfrm>
          <a:prstGeom prst="roundRect">
            <a:avLst>
              <a:gd name="adj" fmla="val 85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016002" y="1533376"/>
            <a:ext cx="2823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团队状态面板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16002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130302" y="1796802"/>
            <a:ext cx="116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320802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35102" y="1796802"/>
            <a:ext cx="1382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646884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A65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761184" y="1796802"/>
            <a:ext cx="1123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947517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A65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61817" y="1796802"/>
            <a:ext cx="1080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243983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58283" y="1796802"/>
            <a:ext cx="1598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854077" y="2680692"/>
            <a:ext cx="3092202" cy="1611660"/>
          </a:xfrm>
          <a:prstGeom prst="roundRect">
            <a:avLst>
              <a:gd name="adj" fmla="val 630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016002" y="2842617"/>
            <a:ext cx="2823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工程监视器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016002" y="3080742"/>
            <a:ext cx="2768352" cy="849660"/>
          </a:xfrm>
          <a:prstGeom prst="roundRect">
            <a:avLst>
              <a:gd name="adj" fmla="val 5979"/>
            </a:avLst>
          </a:prstGeom>
          <a:solidFill>
            <a:srgbClr val="0D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092202" y="3156942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Dev: Creating Header component...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3092202" y="3267968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Writing src/components/Header.tsx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092202" y="3378994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Added responsive navigation bar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092202" y="3490020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Running lint checks...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3092202" y="3601045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All checks passed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2988318" y="4006602"/>
            <a:ext cx="28237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实时观看 AI 工作过程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073229" y="1371451"/>
            <a:ext cx="2435870" cy="2920901"/>
          </a:xfrm>
          <a:prstGeom prst="roundRect">
            <a:avLst>
              <a:gd name="adj" fmla="val 4171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260455" y="160153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412855" y="1558677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指令通道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60455" y="3289250"/>
            <a:ext cx="2061418" cy="257175"/>
          </a:xfrm>
          <a:prstGeom prst="roundRect">
            <a:avLst>
              <a:gd name="adj" fmla="val 29630"/>
            </a:avLst>
          </a:prstGeom>
          <a:solidFill>
            <a:srgbClr val="6C63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336655" y="3365450"/>
            <a:ext cx="1947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做一个响应式导航栏，参考 Stripe 的风格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260455" y="3622625"/>
            <a:ext cx="2061418" cy="257175"/>
          </a:xfrm>
          <a:prstGeom prst="roundRect">
            <a:avLst>
              <a:gd name="adj" fmla="val 29630"/>
            </a:avLst>
          </a:prstGeom>
          <a:solidFill>
            <a:srgbClr val="00D2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336655" y="3698825"/>
            <a:ext cx="1947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收到！正在创建导航组件...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239841" y="3981301"/>
            <a:ext cx="21026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自然语言下达命令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752326"/>
            <a:ext cx="79020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透明厨房 · 每一步都看得见</a:t>
            </a:r>
            <a:endParaRPr lang="en-US" sz="3000" dirty="0"/>
          </a:p>
        </p:txBody>
      </p:sp>
      <p:pic>
        <p:nvPicPr>
          <p:cNvPr id="5" name="Image 1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50" y="1495276"/>
            <a:ext cx="1015901" cy="25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450" y="1914227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A6578">
              <a:alpha val="30000"/>
            </a:srgbClr>
          </a:solidFill>
          <a:ln w="9525">
            <a:solidFill>
              <a:srgbClr val="5A657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82848" y="2047577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77851" y="1934914"/>
            <a:ext cx="1717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· 空闲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77851" y="2188815"/>
            <a:ext cx="1717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等待任务分配，随时可以激活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98450" y="256817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B84D">
              <a:alpha val="20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82848" y="2701528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7851" y="2588865"/>
            <a:ext cx="211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Activating · 激活中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7851" y="2842766"/>
            <a:ext cx="2113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正在启动工作环境，加载项目上下文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98450" y="322212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FB950">
              <a:alpha val="20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82848" y="3355479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7851" y="3242816"/>
            <a:ext cx="1453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· 就绪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377851" y="3496717"/>
            <a:ext cx="1453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准备完毕，可以接受命令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98450" y="387608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8A6FF">
              <a:alpha val="20000"/>
            </a:srgbClr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82848" y="4009430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77851" y="3896767"/>
            <a:ext cx="211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· 执行中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377851" y="4150668"/>
            <a:ext cx="2113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正在工作，可在监视器实时查看输出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0979" y="4580930"/>
            <a:ext cx="79020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告别黑盒开发  ·  每个 AI 的工作状态一目了然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79962" y="1090613"/>
            <a:ext cx="1207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3022074" y="1385888"/>
            <a:ext cx="309985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谁在使用</a:t>
            </a:r>
            <a:endParaRPr lang="en-US" sz="380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软件公司？</a:t>
            </a:r>
            <a:endParaRPr lang="en-US" sz="3800" dirty="0"/>
          </a:p>
        </p:txBody>
      </p:sp>
      <p:pic>
        <p:nvPicPr>
          <p:cNvPr id="6" name="Image 2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50" y="3011388"/>
            <a:ext cx="1015901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74674" y="3468588"/>
            <a:ext cx="3963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3474674" y="3871764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创业者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242969" y="3468588"/>
            <a:ext cx="5284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4242969" y="3871764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技术团队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142040" y="3468588"/>
            <a:ext cx="5284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5142040" y="3871764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79020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98450" y="882551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创业者的 MVP 加速器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450" y="1641277"/>
            <a:ext cx="3569791" cy="1735782"/>
          </a:xfrm>
          <a:prstGeom prst="roundRect">
            <a:avLst>
              <a:gd name="adj" fmla="val 5853"/>
            </a:avLst>
          </a:prstGeom>
          <a:solidFill>
            <a:srgbClr val="F85149">
              <a:alpha val="8000"/>
            </a:srgbClr>
          </a:solidFill>
          <a:ln w="9525">
            <a:solidFill>
              <a:srgbClr val="F851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36575" y="1879402"/>
            <a:ext cx="3155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6575" y="2174677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招聘团队：2-3 个月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36575" y="2428429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外包沟通：效率低下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6575" y="2682180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预算门槛：50 万+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36575" y="2935932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交付周期：3-6 个月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71392" y="2370981"/>
            <a:ext cx="2052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75758" y="1641277"/>
            <a:ext cx="3569791" cy="1735782"/>
          </a:xfrm>
          <a:prstGeom prst="roundRect">
            <a:avLst>
              <a:gd name="adj" fmla="val 5853"/>
            </a:avLst>
          </a:prstGeom>
          <a:solidFill>
            <a:srgbClr val="3FB950">
              <a:alpha val="8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13883" y="1879402"/>
            <a:ext cx="3155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13883" y="2174677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即刻开始，无需招聘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13883" y="2428429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直接对话 AI，零沟通损耗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13883" y="2682180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元/月起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13883" y="2935932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数天内获得可用原型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8450" y="3656409"/>
            <a:ext cx="7747099" cy="622102"/>
          </a:xfrm>
          <a:prstGeom prst="roundRect">
            <a:avLst>
              <a:gd name="adj" fmla="val 16332"/>
            </a:avLst>
          </a:prstGeom>
          <a:solidFill>
            <a:srgbClr val="141B2D"/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9674" y="3843635"/>
            <a:ext cx="73646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从想法到 MVP：数天 vs 数月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36545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98450" y="882551"/>
            <a:ext cx="365454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技术团队的效能倍增器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511951" y="507950"/>
            <a:ext cx="933599" cy="660202"/>
          </a:xfrm>
          <a:prstGeom prst="roundRect">
            <a:avLst>
              <a:gd name="adj" fmla="val 15389"/>
            </a:avLst>
          </a:prstGeom>
          <a:solidFill>
            <a:srgbClr val="FFB84D">
              <a:alpha val="10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24626" y="618976"/>
            <a:ext cx="5184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19544" y="914251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产能提升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98450" y="1666726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98450" y="16714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1038" y="1666726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8450" y="25858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7500" y="1666726"/>
            <a:ext cx="0" cy="923925"/>
          </a:xfrm>
          <a:prstGeom prst="line">
            <a:avLst/>
          </a:prstGeom>
          <a:noFill/>
          <a:ln w="38100">
            <a:solidFill>
              <a:srgbClr val="00D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5150" y="1904851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接手重复性开发任务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5150" y="2190601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处理 CRUD、表单、列表等标准功能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48200" y="1666726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8200" y="16714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40787" y="1666726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8200" y="25858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7250" y="1666726"/>
            <a:ext cx="0" cy="923925"/>
          </a:xfrm>
          <a:prstGeom prst="line">
            <a:avLst/>
          </a:prstGeom>
          <a:noFill/>
          <a:ln w="38100">
            <a:solidFill>
              <a:srgbClr val="6C63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4900" y="1904851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自动生成样板代码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14900" y="2190601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组件骨架、API 路由、数据模型一键生成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8450" y="2743051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698450" y="27478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91038" y="2743051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8450" y="36622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7500" y="2743051"/>
            <a:ext cx="0" cy="923925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5150" y="2981176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自动化测试编写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5150" y="3266926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单元测试、集成测试自动生成并执行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48200" y="2743051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648200" y="27478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40787" y="2743051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48200" y="36622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7250" y="2743051"/>
            <a:ext cx="0" cy="923925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14900" y="2981176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文档自动生成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14900" y="3266926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文档、README、技术规范同步输出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4444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34901" y="663476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不止是 AI 编程助手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1333351"/>
          <a:ext cx="7873901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youlidao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Cursor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Copilot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完整 AI 团队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全流程覆盖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透明可见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架构设计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质量门禁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Git 深度集成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727025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企业级技术底座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450" y="1511201"/>
            <a:ext cx="1822400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71451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507563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3114" y="2352526"/>
            <a:ext cx="1373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3114" y="2581126"/>
            <a:ext cx="13730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业界最强推理能力</a:t>
            </a:r>
            <a:endParaRPr lang="en-US" sz="800" dirty="0"/>
          </a:p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旗舰模型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673251" y="1511201"/>
            <a:ext cx="1822549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46400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D2FF">
              <a:alpha val="15000"/>
            </a:srgbClr>
          </a:solidFill>
          <a:ln w="9525">
            <a:solidFill>
              <a:srgbClr val="00D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82513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97913" y="2352526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实时同步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97913" y="2628751"/>
            <a:ext cx="13732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双向通信</a:t>
            </a:r>
            <a:endParaRPr lang="en-US" sz="800" dirty="0"/>
          </a:p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多设备实时协作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8200" y="1511201"/>
            <a:ext cx="1822400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21201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57313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72863" y="2352526"/>
            <a:ext cx="1373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银行级安全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72863" y="2628751"/>
            <a:ext cx="13730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行级数据隔离 (RLS)</a:t>
            </a:r>
            <a:endParaRPr lang="en-US" sz="800" dirty="0"/>
          </a:p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代码只属于你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623000" y="1511201"/>
            <a:ext cx="1822549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96150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B84D">
              <a:alpha val="15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432262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47662" y="2352526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 CDN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47662" y="2628751"/>
            <a:ext cx="13732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Network</a:t>
            </a:r>
            <a:endParaRPr lang="en-US" sz="800" dirty="0"/>
          </a:p>
          <a:p>
            <a:pPr algn="ctr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毫秒级极速响应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305050" y="3405336"/>
            <a:ext cx="460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074045" y="3405336"/>
            <a:ext cx="4145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97945" y="3405336"/>
            <a:ext cx="489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95068" y="3405336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69868" y="3405336"/>
            <a:ext cx="5642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40512" y="3405336"/>
            <a:ext cx="61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79" y="444401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0979" y="663476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简单透明的定价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34901" y="1396901"/>
            <a:ext cx="2493466" cy="2085529"/>
          </a:xfrm>
          <a:prstGeom prst="roundRect">
            <a:avLst>
              <a:gd name="adj" fmla="val 6090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78660" y="1660327"/>
            <a:ext cx="20059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访客计划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8660" y="1942802"/>
            <a:ext cx="20059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78660" y="2371427"/>
            <a:ext cx="2005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327" y="2685752"/>
            <a:ext cx="1966615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8660" y="2850803"/>
            <a:ext cx="2005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初次体验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8660" y="3038029"/>
            <a:ext cx="2005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短期项目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06068" y="1396901"/>
            <a:ext cx="2512665" cy="2085529"/>
          </a:xfrm>
          <a:prstGeom prst="roundRect">
            <a:avLst>
              <a:gd name="adj" fmla="val 6090"/>
            </a:avLst>
          </a:prstGeom>
          <a:solidFill>
            <a:srgbClr val="141B2D"/>
          </a:solidFill>
          <a:ln w="19050">
            <a:solidFill>
              <a:srgbClr val="6C63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92637" y="1289000"/>
            <a:ext cx="739378" cy="145852"/>
          </a:xfrm>
          <a:prstGeom prst="roundRect">
            <a:avLst>
              <a:gd name="adj" fmla="val 87074"/>
            </a:avLst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340691" y="1314301"/>
            <a:ext cx="44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559351" y="1669852"/>
            <a:ext cx="20060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常住计划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59351" y="1952327"/>
            <a:ext cx="20060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$369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559351" y="2380952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79019" y="2695277"/>
            <a:ext cx="1966764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59351" y="2860328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59351" y="3047554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长期项目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96434" y="1396901"/>
            <a:ext cx="2512665" cy="2085529"/>
          </a:xfrm>
          <a:prstGeom prst="roundRect">
            <a:avLst>
              <a:gd name="adj" fmla="val 6090"/>
            </a:avLst>
          </a:prstGeom>
          <a:solidFill>
            <a:srgbClr val="141B2D"/>
          </a:solidFill>
          <a:ln w="19050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22132" y="1289000"/>
            <a:ext cx="861120" cy="145852"/>
          </a:xfrm>
          <a:prstGeom prst="roundRect">
            <a:avLst>
              <a:gd name="adj" fmla="val 87074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68969" y="1314301"/>
            <a:ext cx="5674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249717" y="1669852"/>
            <a:ext cx="20060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创始人计划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49717" y="1952327"/>
            <a:ext cx="20060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249717" y="2380952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69385" y="2695277"/>
            <a:ext cx="1966764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49717" y="2860328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早期支持者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49717" y="3047554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专属特惠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599283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726085" y="3685580"/>
            <a:ext cx="799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9 人 AI 团队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13411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840212" y="3685580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无限项目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458444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585246" y="3685580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无限命令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03478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330279" y="3685580"/>
            <a:ext cx="372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集成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98952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025753" y="3685580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多设备同步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lo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55095" y="744736"/>
            <a:ext cx="1462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2015609" y="1040011"/>
            <a:ext cx="511278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三步开启你的 AI 软件公司</a:t>
            </a:r>
            <a:endParaRPr lang="en-US" sz="3400" dirty="0"/>
          </a:p>
        </p:txBody>
      </p:sp>
      <p:pic>
        <p:nvPicPr>
          <p:cNvPr id="6" name="Image 2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50" y="1913037"/>
            <a:ext cx="1015901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82651" y="2370237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6C63FF">
              <a:alpha val="20000"/>
            </a:srgbClr>
          </a:solidFill>
          <a:ln w="19050">
            <a:solidFill>
              <a:srgbClr val="6C63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1908945" y="2521000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139141" y="3093988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139141" y="3373338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youlidao.ai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187601" y="284797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273451" y="2370237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00D2FF">
              <a:alpha val="20000"/>
            </a:srgbClr>
          </a:solidFill>
          <a:ln w="19050">
            <a:solidFill>
              <a:srgbClr val="00D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499745" y="2521000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729941" y="3093988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729941" y="3373338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选择适合的方案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778401" y="284797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864251" y="2370237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FFB84D">
              <a:alpha val="20000"/>
            </a:srgbClr>
          </a:solidFill>
          <a:ln w="19050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090545" y="2521000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20741" y="3093988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20741" y="3373338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开始与 AI 团队协作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286720" y="3916263"/>
            <a:ext cx="2570559" cy="482501"/>
          </a:xfrm>
          <a:prstGeom prst="roundRect">
            <a:avLst>
              <a:gd name="adj" fmla="val 21057"/>
            </a:avLst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731121" y="4043214"/>
            <a:ext cx="1715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  ·  立即体验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lo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3801963" y="117961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030414" y="1154162"/>
            <a:ext cx="1337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2811217" y="1433513"/>
            <a:ext cx="35215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让每一个有想法的人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2811217" y="1966912"/>
            <a:ext cx="35215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都能把创意变成现实</a:t>
            </a:r>
            <a:endParaRPr lang="en-US" sz="3000" dirty="0"/>
          </a:p>
        </p:txBody>
      </p:sp>
      <p:pic>
        <p:nvPicPr>
          <p:cNvPr id="9" name="Image 2" descr="/Users/dorayo/Codes/Orchestrix/workspace/youlidao-pptx/assets/accen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50" y="2824163"/>
            <a:ext cx="1269950" cy="38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79725" y="3179713"/>
            <a:ext cx="26362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 AI 软件公司，随时待命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298180" y="3846463"/>
            <a:ext cx="619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286250" y="3846463"/>
            <a:ext cx="337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700290" y="3846463"/>
            <a:ext cx="1168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contact@youlidao.ai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-91440" y="4794349"/>
            <a:ext cx="93268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youlidao.ai  ·  AI-Driven Software Company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youlidao.ai - AI 驱动的软件公司</dc:title>
  <dc:subject>PptxGenJS Presentation</dc:subject>
  <dc:creator>youlidao.ai</dc:creator>
  <cp:lastModifiedBy>youlidao.ai</cp:lastModifiedBy>
  <cp:revision>1</cp:revision>
  <dcterms:created xsi:type="dcterms:W3CDTF">2026-02-03T03:10:27Z</dcterms:created>
  <dcterms:modified xsi:type="dcterms:W3CDTF">2026-02-03T03:10:27Z</dcterms:modified>
</cp:coreProperties>
</file>