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0145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low-c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dorayo/Codes/Orchestrix/workspace/youlidao-pptx/assets/g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6C6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825401" y="78745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00D2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1053852" y="762000"/>
            <a:ext cx="13377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YOULIDAO.AI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825401" y="1041350"/>
            <a:ext cx="8484971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驱动的软件公司</a:t>
            </a:r>
            <a:endParaRPr lang="en-US" sz="4200" dirty="0"/>
          </a:p>
        </p:txBody>
      </p:sp>
      <p:pic>
        <p:nvPicPr>
          <p:cNvPr id="8" name="Image 2" descr="/Users/dorayo/Codes/Orchestrix/workspace/youlidao-pptx/assets/accent-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401" y="2082701"/>
            <a:ext cx="1524000" cy="381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5401" y="2412802"/>
            <a:ext cx="8484971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0"/>
              </a:lnSpc>
              <a:buNone/>
            </a:pPr>
            <a:r>
              <a:rPr lang="en-US" sz="1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位专业 AI 工程师组成的团队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825401" y="2788593"/>
            <a:ext cx="8484971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0"/>
              </a:lnSpc>
              <a:spcBef>
                <a:spcPts val="400"/>
              </a:spcBef>
              <a:buNone/>
            </a:pPr>
            <a:r>
              <a:rPr lang="en-US" sz="1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实时为你开发软件，全程透明可见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25401" y="465772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1003102" y="4629150"/>
            <a:ext cx="19476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CENTER  |  READY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450" y="571500"/>
            <a:ext cx="79020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98450" y="815876"/>
            <a:ext cx="790204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软件开发，为什么这么痛？</a:t>
            </a:r>
            <a:endParaRPr lang="en-US" sz="3200" dirty="0"/>
          </a:p>
        </p:txBody>
      </p:sp>
      <p:pic>
        <p:nvPicPr>
          <p:cNvPr id="5" name="Image 1" descr="/Users/dorayo/Codes/Orchestrix/workspace/youlidao-pptx/assets/accent-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450" y="1596926"/>
            <a:ext cx="1015901" cy="253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8450" y="2041327"/>
            <a:ext cx="2413099" cy="1869579"/>
          </a:xfrm>
          <a:prstGeom prst="roundRect">
            <a:avLst>
              <a:gd name="adj" fmla="val 5434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3"/>
          <p:cNvSpPr/>
          <p:nvPr/>
        </p:nvSpPr>
        <p:spPr>
          <a:xfrm>
            <a:off x="698450" y="2060377"/>
            <a:ext cx="2413099" cy="0"/>
          </a:xfrm>
          <a:prstGeom prst="line">
            <a:avLst/>
          </a:prstGeom>
          <a:noFill/>
          <a:ln w="381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3106787" y="2041327"/>
            <a:ext cx="0" cy="1869579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698450" y="3906143"/>
            <a:ext cx="2413099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703213" y="2041327"/>
            <a:ext cx="0" cy="1869579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936575" y="2358777"/>
            <a:ext cx="197558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200万+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936575" y="2939802"/>
            <a:ext cx="19755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1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年均人力成本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936575" y="3241328"/>
            <a:ext cx="1975586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 5 人技术团队的年薪、社保、管理成本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65450" y="2041327"/>
            <a:ext cx="2413099" cy="1869579"/>
          </a:xfrm>
          <a:prstGeom prst="roundRect">
            <a:avLst>
              <a:gd name="adj" fmla="val 5434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3365450" y="2060377"/>
            <a:ext cx="2413099" cy="0"/>
          </a:xfrm>
          <a:prstGeom prst="line">
            <a:avLst/>
          </a:prstGeom>
          <a:noFill/>
          <a:ln w="38100">
            <a:solidFill>
              <a:srgbClr val="FFB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773787" y="2041327"/>
            <a:ext cx="0" cy="1869579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365450" y="3906143"/>
            <a:ext cx="2413099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370213" y="2041327"/>
            <a:ext cx="0" cy="1869579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3603575" y="2358777"/>
            <a:ext cx="197558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 个月</a:t>
            </a:r>
            <a:endParaRPr lang="en-US" sz="2800" dirty="0"/>
          </a:p>
        </p:txBody>
      </p:sp>
      <p:sp>
        <p:nvSpPr>
          <p:cNvPr id="20" name="Text 16"/>
          <p:cNvSpPr/>
          <p:nvPr/>
        </p:nvSpPr>
        <p:spPr>
          <a:xfrm>
            <a:off x="3603575" y="2939802"/>
            <a:ext cx="19755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1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平均交付周期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603575" y="3241328"/>
            <a:ext cx="1975586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从需求确认到 MVP 上线的漫长等待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032450" y="2041327"/>
            <a:ext cx="2413099" cy="1869579"/>
          </a:xfrm>
          <a:prstGeom prst="roundRect">
            <a:avLst>
              <a:gd name="adj" fmla="val 5434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19"/>
          <p:cNvSpPr/>
          <p:nvPr/>
        </p:nvSpPr>
        <p:spPr>
          <a:xfrm>
            <a:off x="6032450" y="2060377"/>
            <a:ext cx="2413099" cy="0"/>
          </a:xfrm>
          <a:prstGeom prst="line">
            <a:avLst/>
          </a:prstGeom>
          <a:noFill/>
          <a:ln w="381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8440787" y="2041327"/>
            <a:ext cx="0" cy="1869579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6032450" y="3906143"/>
            <a:ext cx="2413099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6037213" y="2041327"/>
            <a:ext cx="0" cy="1869579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6270575" y="2358777"/>
            <a:ext cx="197558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800" dirty="0"/>
          </a:p>
        </p:txBody>
      </p:sp>
      <p:sp>
        <p:nvSpPr>
          <p:cNvPr id="28" name="Text 24"/>
          <p:cNvSpPr/>
          <p:nvPr/>
        </p:nvSpPr>
        <p:spPr>
          <a:xfrm>
            <a:off x="6270575" y="2844552"/>
            <a:ext cx="19755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1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非编码时间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270575" y="3146078"/>
            <a:ext cx="1975586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沟通、会议、返工、等待确认消耗大量时间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20979" y="4190256"/>
            <a:ext cx="79020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传统软件开发中，写代码只占总时间的 20%，剩下的 80% 都在沟通和返工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450" y="571500"/>
            <a:ext cx="79020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GAP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98450" y="815876"/>
            <a:ext cx="790204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 AI 工具，只解决了冰山一角</a:t>
            </a:r>
            <a:endParaRPr lang="en-US" sz="3000" dirty="0"/>
          </a:p>
        </p:txBody>
      </p:sp>
      <p:pic>
        <p:nvPicPr>
          <p:cNvPr id="5" name="Image 1" descr="/Users/dorayo/Codes/Orchestrix/workspace/youlidao-pptx/assets/accent-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450" y="1558826"/>
            <a:ext cx="1015901" cy="253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8450" y="1939677"/>
            <a:ext cx="1156395" cy="634901"/>
          </a:xfrm>
          <a:prstGeom prst="rect">
            <a:avLst/>
          </a:prstGeom>
          <a:solidFill>
            <a:srgbClr val="2D1B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1170689" y="2114252"/>
            <a:ext cx="2117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854845" y="1939677"/>
            <a:ext cx="1002209" cy="634901"/>
          </a:xfrm>
          <a:prstGeom prst="rect">
            <a:avLst/>
          </a:prstGeom>
          <a:solidFill>
            <a:srgbClr val="2A1B3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2249991" y="2114252"/>
            <a:ext cx="2117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2857054" y="1939677"/>
            <a:ext cx="925116" cy="634901"/>
          </a:xfrm>
          <a:prstGeom prst="rect">
            <a:avLst/>
          </a:prstGeom>
          <a:solidFill>
            <a:srgbClr val="271A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181469" y="2128540"/>
            <a:ext cx="27628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782169" y="1939677"/>
            <a:ext cx="1002209" cy="634901"/>
          </a:xfrm>
          <a:prstGeom prst="rect">
            <a:avLst/>
          </a:prstGeom>
          <a:solidFill>
            <a:srgbClr val="24193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177315" y="2114252"/>
            <a:ext cx="2117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784378" y="1939677"/>
            <a:ext cx="1579811" cy="634901"/>
          </a:xfrm>
          <a:prstGeom prst="rect">
            <a:avLst/>
          </a:prstGeom>
          <a:solidFill>
            <a:srgbClr val="6C63FF"/>
          </a:solidFill>
          <a:ln w="19050">
            <a:solidFill>
              <a:srgbClr val="00D2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336177" y="2176165"/>
            <a:ext cx="4762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编码实现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364188" y="1939677"/>
            <a:ext cx="1079153" cy="634901"/>
          </a:xfrm>
          <a:prstGeom prst="rect">
            <a:avLst/>
          </a:prstGeom>
          <a:solidFill>
            <a:srgbClr val="24193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6797881" y="2114252"/>
            <a:ext cx="2117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验收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7443341" y="1939677"/>
            <a:ext cx="1002209" cy="634901"/>
          </a:xfrm>
          <a:prstGeom prst="rect">
            <a:avLst/>
          </a:prstGeom>
          <a:solidFill>
            <a:srgbClr val="271A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7838487" y="2114252"/>
            <a:ext cx="2117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运维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556843" y="2726978"/>
            <a:ext cx="20709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/ Copilot / Replit 只覆盖高亮部分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98450" y="3117503"/>
            <a:ext cx="7747099" cy="1406277"/>
          </a:xfrm>
          <a:prstGeom prst="roundRect">
            <a:avLst>
              <a:gd name="adj" fmla="val 7225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18"/>
          <p:cNvSpPr/>
          <p:nvPr/>
        </p:nvSpPr>
        <p:spPr>
          <a:xfrm>
            <a:off x="698450" y="3122265"/>
            <a:ext cx="7747099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8440787" y="3117503"/>
            <a:ext cx="0" cy="140627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698450" y="4519017"/>
            <a:ext cx="7747099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717500" y="3117503"/>
            <a:ext cx="0" cy="1406277"/>
          </a:xfrm>
          <a:prstGeom prst="line">
            <a:avLst/>
          </a:prstGeom>
          <a:noFill/>
          <a:ln w="38100">
            <a:solidFill>
              <a:srgbClr val="FFB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1054001" y="3380929"/>
            <a:ext cx="72058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市场需要什么？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054001" y="3717429"/>
            <a:ext cx="72058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Bef>
                <a:spcPts val="1000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一个覆盖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完整软件开发生命周期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 AI 解决方案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1054001" y="4079379"/>
            <a:ext cx="72058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不只是写代码，而是从需求分析到测试部署的全流程 AI 协作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low-c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dorayo/Codes/Orchestrix/workspace/youlidao-pptx/assets/g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783955" y="763488"/>
            <a:ext cx="16076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1398371" y="1058763"/>
            <a:ext cx="6347258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200"/>
              </a:spcBef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全球首个「透明 AI 软件公司」</a:t>
            </a:r>
            <a:endParaRPr lang="en-US" sz="3600" dirty="0"/>
          </a:p>
        </p:txBody>
      </p:sp>
      <p:pic>
        <p:nvPicPr>
          <p:cNvPr id="6" name="Image 2" descr="/Users/dorayo/Codes/Orchestrix/workspace/youlidao-pptx/assets/accent-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6950" y="1969889"/>
            <a:ext cx="1269950" cy="381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821656" y="2363539"/>
            <a:ext cx="1621780" cy="2016472"/>
          </a:xfrm>
          <a:prstGeom prst="roundRect">
            <a:avLst>
              <a:gd name="adj" fmla="val 7831"/>
            </a:avLst>
          </a:prstGeom>
          <a:solidFill>
            <a:srgbClr val="141B2D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2369046" y="2652415"/>
            <a:ext cx="527000" cy="527000"/>
          </a:xfrm>
          <a:prstGeom prst="roundRect">
            <a:avLst>
              <a:gd name="adj" fmla="val 173510"/>
            </a:avLst>
          </a:prstGeom>
          <a:solidFill>
            <a:srgbClr val="6C63FF">
              <a:alpha val="15000"/>
            </a:srgbClr>
          </a:solidFill>
          <a:ln w="9525">
            <a:solidFill>
              <a:srgbClr val="6C63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2567650" y="2782491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2022367" y="3306366"/>
            <a:ext cx="1220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 AI 团队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2022367" y="3611166"/>
            <a:ext cx="122035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位各司其职的 AI 工程师</a:t>
            </a:r>
            <a:endParaRPr lang="en-US" sz="900" dirty="0"/>
          </a:p>
          <a:p>
            <a:pPr marL="0" indent="0" algn="ctr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模拟真实软件公司分工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3760887" y="2363539"/>
            <a:ext cx="1621929" cy="2016472"/>
          </a:xfrm>
          <a:prstGeom prst="roundRect">
            <a:avLst>
              <a:gd name="adj" fmla="val 7830"/>
            </a:avLst>
          </a:prstGeom>
          <a:solidFill>
            <a:srgbClr val="141B2D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4308277" y="2652415"/>
            <a:ext cx="527000" cy="527000"/>
          </a:xfrm>
          <a:prstGeom prst="roundRect">
            <a:avLst>
              <a:gd name="adj" fmla="val 173510"/>
            </a:avLst>
          </a:prstGeom>
          <a:solidFill>
            <a:srgbClr val="00D2FF">
              <a:alpha val="15000"/>
            </a:srgbClr>
          </a:solidFill>
          <a:ln w="9525">
            <a:solidFill>
              <a:srgbClr val="00D2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4506880" y="2782491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3961596" y="3306366"/>
            <a:ext cx="1220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标准化全流程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961596" y="3611166"/>
            <a:ext cx="12205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从需求分析到测试上线</a:t>
            </a:r>
            <a:endParaRPr lang="en-US" sz="900" dirty="0"/>
          </a:p>
          <a:p>
            <a:pPr marL="0" indent="0" algn="ctr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步标准工作流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5700266" y="2363539"/>
            <a:ext cx="1621929" cy="2016472"/>
          </a:xfrm>
          <a:prstGeom prst="roundRect">
            <a:avLst>
              <a:gd name="adj" fmla="val 7830"/>
            </a:avLst>
          </a:prstGeom>
          <a:solidFill>
            <a:srgbClr val="141B2D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6247656" y="2652415"/>
            <a:ext cx="527000" cy="527000"/>
          </a:xfrm>
          <a:prstGeom prst="roundRect">
            <a:avLst>
              <a:gd name="adj" fmla="val 173510"/>
            </a:avLst>
          </a:prstGeom>
          <a:solidFill>
            <a:srgbClr val="FFB84D">
              <a:alpha val="15000"/>
            </a:srgbClr>
          </a:solidFill>
          <a:ln w="9525">
            <a:solidFill>
              <a:srgbClr val="FFB84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6354875" y="2811066"/>
            <a:ext cx="3124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24h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900976" y="3306366"/>
            <a:ext cx="1220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透明厨房模式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900976" y="3611166"/>
            <a:ext cx="12205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实时观看 AI 工作过程</a:t>
            </a:r>
            <a:endParaRPr lang="en-US" sz="900" dirty="0"/>
          </a:p>
          <a:p>
            <a:pPr marL="0" indent="0" algn="ctr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每一步都清晰可见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450" y="482501"/>
            <a:ext cx="79020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98450" y="701576"/>
            <a:ext cx="790204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Orchestrix 协调引擎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98450" y="1257151"/>
            <a:ext cx="79020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Orchestra（管弦乐团）+ Matrix（矩阵）= 精密协调的 AI 团队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98450" y="1692027"/>
            <a:ext cx="7747099" cy="803077"/>
          </a:xfrm>
          <a:prstGeom prst="roundRect">
            <a:avLst>
              <a:gd name="adj" fmla="val 12651"/>
            </a:avLst>
          </a:prstGeom>
          <a:solidFill>
            <a:srgbClr val="141B2D"/>
          </a:solidFill>
          <a:ln w="9525">
            <a:solidFill>
              <a:srgbClr val="6C63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55527" y="2022128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787277" y="1890415"/>
            <a:ext cx="25301" cy="406301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003078" y="1879253"/>
            <a:ext cx="5667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界面层  |  建造中心工作台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003078" y="2145953"/>
            <a:ext cx="5667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三区工作台 + AI 对话界面 + 实时状态面板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559427" y="2022128"/>
            <a:ext cx="6351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你看到的一切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559350" y="2622054"/>
            <a:ext cx="25301" cy="152400"/>
          </a:xfrm>
          <a:prstGeom prst="rect">
            <a:avLst/>
          </a:prstGeom>
          <a:solidFill>
            <a:srgbClr val="6C6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98450" y="2901404"/>
            <a:ext cx="7747099" cy="803077"/>
          </a:xfrm>
          <a:prstGeom prst="roundRect">
            <a:avLst>
              <a:gd name="adj" fmla="val 12651"/>
            </a:avLst>
          </a:prstGeom>
          <a:solidFill>
            <a:srgbClr val="141B2D"/>
          </a:solidFill>
          <a:ln w="9525">
            <a:solidFill>
              <a:srgbClr val="00D2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955527" y="3231505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787277" y="3099792"/>
            <a:ext cx="25301" cy="406301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03078" y="3088630"/>
            <a:ext cx="58792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流程层  |  Orchestrix 流程引擎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003078" y="3355330"/>
            <a:ext cx="58792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标准化工作流 + 质量门禁 + 状态管理 + 文档模板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767042" y="3231505"/>
            <a:ext cx="4233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质量保障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559350" y="3831431"/>
            <a:ext cx="25301" cy="152400"/>
          </a:xfrm>
          <a:prstGeom prst="rect">
            <a:avLst/>
          </a:prstGeom>
          <a:solidFill>
            <a:srgbClr val="00D2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98450" y="4110782"/>
            <a:ext cx="7747099" cy="803077"/>
          </a:xfrm>
          <a:prstGeom prst="roundRect">
            <a:avLst>
              <a:gd name="adj" fmla="val 12651"/>
            </a:avLst>
          </a:prstGeom>
          <a:solidFill>
            <a:srgbClr val="141B2D"/>
          </a:solidFill>
          <a:ln w="9525">
            <a:solidFill>
              <a:srgbClr val="FFB84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955527" y="4440882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787277" y="4309170"/>
            <a:ext cx="25301" cy="406301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2003078" y="4298007"/>
            <a:ext cx="58792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能力层  |  Claude AI 大模型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003078" y="4564707"/>
            <a:ext cx="58792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理解语言 + 推理逻辑 + 生成代码 + 质量审查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767042" y="4440882"/>
            <a:ext cx="4233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智能核心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44401"/>
            <a:ext cx="81610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TEAM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71500" y="663476"/>
            <a:ext cx="816102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位 AI 工程师，各司其职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71500" y="1395264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00D2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11101" y="1346002"/>
            <a:ext cx="16511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战略规划部 Strategic Planning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1500" y="1609427"/>
            <a:ext cx="1518940" cy="1002357"/>
          </a:xfrm>
          <a:prstGeom prst="roundRect">
            <a:avLst>
              <a:gd name="adj" fmla="val 7602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71500" y="1618952"/>
            <a:ext cx="1518940" cy="0"/>
          </a:xfrm>
          <a:prstGeom prst="line">
            <a:avLst/>
          </a:prstGeom>
          <a:noFill/>
          <a:ln w="1905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085677" y="1609427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1500" y="2607022"/>
            <a:ext cx="151894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76263" y="1609427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69557" y="1755428"/>
            <a:ext cx="13228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9557" y="2072878"/>
            <a:ext cx="13228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69557" y="2244328"/>
            <a:ext cx="132282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市场调研</a:t>
            </a:r>
            <a:endParaRPr lang="en-US" sz="700" dirty="0"/>
          </a:p>
          <a:p>
            <a:pPr marL="0" indent="0" algn="ctr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项目初探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191941" y="1609427"/>
            <a:ext cx="1519089" cy="1002357"/>
          </a:xfrm>
          <a:prstGeom prst="roundRect">
            <a:avLst>
              <a:gd name="adj" fmla="val 7602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2191941" y="1618952"/>
            <a:ext cx="1519089" cy="0"/>
          </a:xfrm>
          <a:prstGeom prst="line">
            <a:avLst/>
          </a:prstGeom>
          <a:noFill/>
          <a:ln w="1905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706267" y="1609427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191941" y="2607022"/>
            <a:ext cx="1519089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196703" y="1609427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289996" y="1755428"/>
            <a:ext cx="13229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289996" y="2072878"/>
            <a:ext cx="13229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289996" y="2244328"/>
            <a:ext cx="132297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需求梳理</a:t>
            </a:r>
            <a:endParaRPr lang="en-US" sz="700" dirty="0"/>
          </a:p>
          <a:p>
            <a:pPr marL="0" indent="0" algn="ctr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产品规划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3812530" y="1609427"/>
            <a:ext cx="1518940" cy="1002357"/>
          </a:xfrm>
          <a:prstGeom prst="roundRect">
            <a:avLst>
              <a:gd name="adj" fmla="val 7602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3812530" y="1618952"/>
            <a:ext cx="1518940" cy="0"/>
          </a:xfrm>
          <a:prstGeom prst="line">
            <a:avLst/>
          </a:prstGeom>
          <a:noFill/>
          <a:ln w="1905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326707" y="1609427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3812530" y="2607022"/>
            <a:ext cx="151894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3817293" y="1609427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910587" y="1755428"/>
            <a:ext cx="13228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910587" y="2072878"/>
            <a:ext cx="13228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UX-Expert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910587" y="2244328"/>
            <a:ext cx="132282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界面设计</a:t>
            </a:r>
            <a:endParaRPr lang="en-US" sz="700" dirty="0"/>
          </a:p>
          <a:p>
            <a:pPr marL="0" indent="0" algn="ctr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交互规范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5432971" y="1609427"/>
            <a:ext cx="1519089" cy="1002357"/>
          </a:xfrm>
          <a:prstGeom prst="roundRect">
            <a:avLst>
              <a:gd name="adj" fmla="val 7602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5432971" y="1618952"/>
            <a:ext cx="1519089" cy="0"/>
          </a:xfrm>
          <a:prstGeom prst="line">
            <a:avLst/>
          </a:prstGeom>
          <a:noFill/>
          <a:ln w="1905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947297" y="1609427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5432971" y="2607022"/>
            <a:ext cx="1519089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5437733" y="1609427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531026" y="1755428"/>
            <a:ext cx="13229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5531026" y="2072878"/>
            <a:ext cx="13229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531026" y="2244328"/>
            <a:ext cx="132297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技术选型</a:t>
            </a:r>
            <a:endParaRPr lang="en-US" sz="700" dirty="0"/>
          </a:p>
          <a:p>
            <a:pPr marL="0" indent="0" algn="ctr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7053560" y="1609427"/>
            <a:ext cx="1518940" cy="1002357"/>
          </a:xfrm>
          <a:prstGeom prst="roundRect">
            <a:avLst>
              <a:gd name="adj" fmla="val 7602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7"/>
          <p:cNvSpPr/>
          <p:nvPr/>
        </p:nvSpPr>
        <p:spPr>
          <a:xfrm>
            <a:off x="7053560" y="1618952"/>
            <a:ext cx="1518940" cy="0"/>
          </a:xfrm>
          <a:prstGeom prst="line">
            <a:avLst/>
          </a:prstGeom>
          <a:noFill/>
          <a:ln w="1905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8567738" y="1609427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7053560" y="2607022"/>
            <a:ext cx="151894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7058323" y="1609427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7151617" y="1755428"/>
            <a:ext cx="13228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7151617" y="2072878"/>
            <a:ext cx="13228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7151617" y="2244328"/>
            <a:ext cx="132282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质量把关</a:t>
            </a:r>
            <a:endParaRPr lang="en-US" sz="700" dirty="0"/>
          </a:p>
          <a:p>
            <a:pPr marL="0" indent="0" algn="ctr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优先管理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571500" y="2838748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711101" y="2789486"/>
            <a:ext cx="13012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工程实施部 Engineering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571500" y="3052911"/>
            <a:ext cx="1563291" cy="1002357"/>
          </a:xfrm>
          <a:prstGeom prst="roundRect">
            <a:avLst>
              <a:gd name="adj" fmla="val 7602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7"/>
          <p:cNvSpPr/>
          <p:nvPr/>
        </p:nvSpPr>
        <p:spPr>
          <a:xfrm>
            <a:off x="571500" y="3062436"/>
            <a:ext cx="1563291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2130028" y="3052911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571500" y="4050506"/>
            <a:ext cx="1563291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576263" y="3052911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669113" y="3198912"/>
            <a:ext cx="13680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400" dirty="0"/>
          </a:p>
        </p:txBody>
      </p:sp>
      <p:sp>
        <p:nvSpPr>
          <p:cNvPr id="55" name="Text 52"/>
          <p:cNvSpPr/>
          <p:nvPr/>
        </p:nvSpPr>
        <p:spPr>
          <a:xfrm>
            <a:off x="669113" y="3516362"/>
            <a:ext cx="13680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669113" y="3687812"/>
            <a:ext cx="136806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故事拆分</a:t>
            </a:r>
            <a:endParaRPr lang="en-US" sz="700" dirty="0"/>
          </a:p>
          <a:p>
            <a:pPr marL="0" indent="0" algn="ctr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迭代管理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2236291" y="3052911"/>
            <a:ext cx="1563439" cy="1002357"/>
          </a:xfrm>
          <a:prstGeom prst="roundRect">
            <a:avLst>
              <a:gd name="adj" fmla="val 7602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Shape 55"/>
          <p:cNvSpPr/>
          <p:nvPr/>
        </p:nvSpPr>
        <p:spPr>
          <a:xfrm>
            <a:off x="2236291" y="3062436"/>
            <a:ext cx="1563439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3794968" y="3052911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7"/>
          <p:cNvSpPr/>
          <p:nvPr/>
        </p:nvSpPr>
        <p:spPr>
          <a:xfrm>
            <a:off x="2236291" y="4050506"/>
            <a:ext cx="1563439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8"/>
          <p:cNvSpPr/>
          <p:nvPr/>
        </p:nvSpPr>
        <p:spPr>
          <a:xfrm>
            <a:off x="2241054" y="3052911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2333903" y="3198912"/>
            <a:ext cx="1368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</a:t>
            </a:r>
            <a:endParaRPr lang="en-US" sz="1400" dirty="0"/>
          </a:p>
        </p:txBody>
      </p:sp>
      <p:sp>
        <p:nvSpPr>
          <p:cNvPr id="63" name="Text 60"/>
          <p:cNvSpPr/>
          <p:nvPr/>
        </p:nvSpPr>
        <p:spPr>
          <a:xfrm>
            <a:off x="2333903" y="3516362"/>
            <a:ext cx="13682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Arch-Eng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2333903" y="3687812"/>
            <a:ext cx="136821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技术评审</a:t>
            </a:r>
            <a:endParaRPr lang="en-US" sz="700" dirty="0"/>
          </a:p>
          <a:p>
            <a:pPr marL="0" indent="0" algn="ctr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代码规范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3901232" y="3052911"/>
            <a:ext cx="1563439" cy="1002357"/>
          </a:xfrm>
          <a:prstGeom prst="roundRect">
            <a:avLst>
              <a:gd name="adj" fmla="val 7602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Shape 63"/>
          <p:cNvSpPr/>
          <p:nvPr/>
        </p:nvSpPr>
        <p:spPr>
          <a:xfrm>
            <a:off x="3901232" y="3062436"/>
            <a:ext cx="1563439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5459909" y="3052911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5"/>
          <p:cNvSpPr/>
          <p:nvPr/>
        </p:nvSpPr>
        <p:spPr>
          <a:xfrm>
            <a:off x="3901232" y="4050506"/>
            <a:ext cx="1563439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>
            <a:off x="3905994" y="3052911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3998844" y="3198912"/>
            <a:ext cx="1368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1400" dirty="0"/>
          </a:p>
        </p:txBody>
      </p:sp>
      <p:sp>
        <p:nvSpPr>
          <p:cNvPr id="71" name="Text 68"/>
          <p:cNvSpPr/>
          <p:nvPr/>
        </p:nvSpPr>
        <p:spPr>
          <a:xfrm>
            <a:off x="3998844" y="3516362"/>
            <a:ext cx="13682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3998844" y="3687812"/>
            <a:ext cx="136821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代码实现</a:t>
            </a:r>
            <a:endParaRPr lang="en-US" sz="700" dirty="0"/>
          </a:p>
          <a:p>
            <a:pPr marL="0" indent="0" algn="ctr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功能开发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5566172" y="3052911"/>
            <a:ext cx="1563439" cy="1002357"/>
          </a:xfrm>
          <a:prstGeom prst="roundRect">
            <a:avLst>
              <a:gd name="adj" fmla="val 7602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Shape 71"/>
          <p:cNvSpPr/>
          <p:nvPr/>
        </p:nvSpPr>
        <p:spPr>
          <a:xfrm>
            <a:off x="5566172" y="3062436"/>
            <a:ext cx="1563439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2"/>
          <p:cNvSpPr/>
          <p:nvPr/>
        </p:nvSpPr>
        <p:spPr>
          <a:xfrm>
            <a:off x="7124849" y="3052911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3"/>
          <p:cNvSpPr/>
          <p:nvPr/>
        </p:nvSpPr>
        <p:spPr>
          <a:xfrm>
            <a:off x="5566172" y="4050506"/>
            <a:ext cx="1563439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4"/>
          <p:cNvSpPr/>
          <p:nvPr/>
        </p:nvSpPr>
        <p:spPr>
          <a:xfrm>
            <a:off x="5570934" y="3052911"/>
            <a:ext cx="0" cy="1002357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5"/>
          <p:cNvSpPr/>
          <p:nvPr/>
        </p:nvSpPr>
        <p:spPr>
          <a:xfrm>
            <a:off x="5663784" y="3198912"/>
            <a:ext cx="1368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</a:t>
            </a:r>
            <a:endParaRPr lang="en-US" sz="1400" dirty="0"/>
          </a:p>
        </p:txBody>
      </p:sp>
      <p:sp>
        <p:nvSpPr>
          <p:cNvPr id="79" name="Text 76"/>
          <p:cNvSpPr/>
          <p:nvPr/>
        </p:nvSpPr>
        <p:spPr>
          <a:xfrm>
            <a:off x="5663784" y="3516362"/>
            <a:ext cx="13682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663784" y="3687812"/>
            <a:ext cx="136821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测试验证</a:t>
            </a:r>
            <a:endParaRPr lang="en-US" sz="700" dirty="0"/>
          </a:p>
          <a:p>
            <a:pPr marL="0" indent="0" algn="ctr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质量门禁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44401"/>
            <a:ext cx="81610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71500" y="663476"/>
            <a:ext cx="816102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从想法到上线，8 步标准流程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44401" y="1358801"/>
            <a:ext cx="1903809" cy="869752"/>
          </a:xfrm>
          <a:prstGeom prst="roundRect">
            <a:avLst>
              <a:gd name="adj" fmla="val 8761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44401" y="2219027"/>
            <a:ext cx="1903809" cy="0"/>
          </a:xfrm>
          <a:prstGeom prst="line">
            <a:avLst/>
          </a:prstGeom>
          <a:noFill/>
          <a:ln w="1905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3087" y="1485751"/>
            <a:ext cx="17864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3087" y="1663452"/>
            <a:ext cx="17864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5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3087" y="1834902"/>
            <a:ext cx="17864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市场分析</a:t>
            </a:r>
            <a:endParaRPr lang="en-US" sz="700" dirty="0"/>
          </a:p>
          <a:p>
            <a:pPr marL="0" indent="0" algn="ctr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可行性评估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398961" y="1717477"/>
            <a:ext cx="1140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561481" y="1358801"/>
            <a:ext cx="1903958" cy="869752"/>
          </a:xfrm>
          <a:prstGeom prst="roundRect">
            <a:avLst>
              <a:gd name="adj" fmla="val 8761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2561481" y="2219027"/>
            <a:ext cx="1903958" cy="0"/>
          </a:xfrm>
          <a:prstGeom prst="line">
            <a:avLst/>
          </a:prstGeom>
          <a:noFill/>
          <a:ln w="1905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620165" y="1485751"/>
            <a:ext cx="17865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620165" y="1663452"/>
            <a:ext cx="1786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5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620165" y="1834902"/>
            <a:ext cx="17865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需求细化</a:t>
            </a:r>
            <a:endParaRPr lang="en-US" sz="700" dirty="0"/>
          </a:p>
          <a:p>
            <a:pPr marL="0" indent="0" algn="ctr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功能规划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516189" y="1717477"/>
            <a:ext cx="1140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678710" y="1358801"/>
            <a:ext cx="1903809" cy="869752"/>
          </a:xfrm>
          <a:prstGeom prst="roundRect">
            <a:avLst>
              <a:gd name="adj" fmla="val 8761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678710" y="2219027"/>
            <a:ext cx="1903809" cy="0"/>
          </a:xfrm>
          <a:prstGeom prst="line">
            <a:avLst/>
          </a:prstGeom>
          <a:noFill/>
          <a:ln w="1905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37396" y="1485751"/>
            <a:ext cx="17864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737396" y="1663452"/>
            <a:ext cx="17864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5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737396" y="1834902"/>
            <a:ext cx="17864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界面设计</a:t>
            </a:r>
            <a:endParaRPr lang="en-US" sz="700" dirty="0"/>
          </a:p>
          <a:p>
            <a:pPr marL="0" indent="0" algn="ctr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交互规范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633270" y="1717477"/>
            <a:ext cx="1140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795790" y="1358801"/>
            <a:ext cx="1903809" cy="869752"/>
          </a:xfrm>
          <a:prstGeom prst="roundRect">
            <a:avLst>
              <a:gd name="adj" fmla="val 8761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6795790" y="2219027"/>
            <a:ext cx="1903809" cy="0"/>
          </a:xfrm>
          <a:prstGeom prst="line">
            <a:avLst/>
          </a:prstGeom>
          <a:noFill/>
          <a:ln w="1905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854476" y="1485751"/>
            <a:ext cx="17864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854476" y="1663452"/>
            <a:ext cx="17864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5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854476" y="1834902"/>
            <a:ext cx="17864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技术选型</a:t>
            </a:r>
            <a:endParaRPr lang="en-US" sz="700" dirty="0"/>
          </a:p>
          <a:p>
            <a:pPr marL="0" indent="0" algn="ctr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架构设计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4509046" y="2304752"/>
            <a:ext cx="128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807250" y="2523827"/>
            <a:ext cx="1892350" cy="869752"/>
          </a:xfrm>
          <a:prstGeom prst="roundRect">
            <a:avLst>
              <a:gd name="adj" fmla="val 8761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6807250" y="3384054"/>
            <a:ext cx="1892350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866050" y="2650778"/>
            <a:ext cx="17747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866050" y="2828479"/>
            <a:ext cx="17747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5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866050" y="2999929"/>
            <a:ext cx="17747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质量验证</a:t>
            </a:r>
            <a:endParaRPr lang="en-US" sz="700" dirty="0"/>
          </a:p>
          <a:p>
            <a:pPr marL="0" indent="0" algn="ctr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文档对齐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6629400" y="2858691"/>
            <a:ext cx="1296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686300" y="2523827"/>
            <a:ext cx="1892350" cy="869752"/>
          </a:xfrm>
          <a:prstGeom prst="roundRect">
            <a:avLst>
              <a:gd name="adj" fmla="val 8761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3"/>
          <p:cNvSpPr/>
          <p:nvPr/>
        </p:nvSpPr>
        <p:spPr>
          <a:xfrm>
            <a:off x="4686300" y="3384054"/>
            <a:ext cx="1892350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745101" y="2650778"/>
            <a:ext cx="17747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745101" y="2828479"/>
            <a:ext cx="17747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5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745101" y="2999929"/>
            <a:ext cx="17747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任务拆分</a:t>
            </a:r>
            <a:endParaRPr lang="en-US" sz="700" dirty="0"/>
          </a:p>
          <a:p>
            <a:pPr marL="0" indent="0" algn="ctr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优先排序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4508450" y="2858691"/>
            <a:ext cx="1296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2565350" y="2523827"/>
            <a:ext cx="1892350" cy="869752"/>
          </a:xfrm>
          <a:prstGeom prst="roundRect">
            <a:avLst>
              <a:gd name="adj" fmla="val 8761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39"/>
          <p:cNvSpPr/>
          <p:nvPr/>
        </p:nvSpPr>
        <p:spPr>
          <a:xfrm>
            <a:off x="2565350" y="3384054"/>
            <a:ext cx="1892350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2624151" y="2650778"/>
            <a:ext cx="17747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2624151" y="2828479"/>
            <a:ext cx="17747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5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2624151" y="2999929"/>
            <a:ext cx="17747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代码实现</a:t>
            </a:r>
            <a:endParaRPr lang="en-US" sz="700" dirty="0"/>
          </a:p>
          <a:p>
            <a:pPr marL="0" indent="0" algn="ctr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功能开发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2387501" y="2858691"/>
            <a:ext cx="1296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44401" y="2523827"/>
            <a:ext cx="1892350" cy="869752"/>
          </a:xfrm>
          <a:prstGeom prst="roundRect">
            <a:avLst>
              <a:gd name="adj" fmla="val 8761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Shape 45"/>
          <p:cNvSpPr/>
          <p:nvPr/>
        </p:nvSpPr>
        <p:spPr>
          <a:xfrm>
            <a:off x="444401" y="3384054"/>
            <a:ext cx="1892350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503201" y="2650778"/>
            <a:ext cx="17747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8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503201" y="2828479"/>
            <a:ext cx="17747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5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503201" y="2999929"/>
            <a:ext cx="17747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测试验证</a:t>
            </a:r>
            <a:endParaRPr lang="en-US" sz="700" dirty="0"/>
          </a:p>
          <a:p>
            <a:pPr marL="0" indent="0" algn="ctr">
              <a:spcBef>
                <a:spcPts val="3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质量门禁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3434060" y="357931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D2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3573661" y="3545979"/>
            <a:ext cx="4233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自动流转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242643" y="357931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B8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4382244" y="3545979"/>
            <a:ext cx="4233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质量门禁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5051227" y="357931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5190827" y="3545979"/>
            <a:ext cx="529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全程可追溯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901" y="444401"/>
            <a:ext cx="8031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34901" y="663476"/>
            <a:ext cx="803168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三区工作台 · 全景掌控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34901" y="1371451"/>
            <a:ext cx="2092226" cy="2920901"/>
          </a:xfrm>
          <a:prstGeom prst="roundRect">
            <a:avLst>
              <a:gd name="adj" fmla="val 4856"/>
            </a:avLst>
          </a:prstGeom>
          <a:solidFill>
            <a:srgbClr val="141B2D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2127" y="160153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D2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74527" y="1558677"/>
            <a:ext cx="3571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档案室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127" y="1847552"/>
            <a:ext cx="1717774" cy="2032248"/>
          </a:xfrm>
          <a:prstGeom prst="roundRect">
            <a:avLst>
              <a:gd name="adj" fmla="val 2957"/>
            </a:avLst>
          </a:prstGeom>
          <a:solidFill>
            <a:srgbClr val="0D122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23627" y="1949053"/>
            <a:ext cx="1545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5A6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999827" y="2079129"/>
            <a:ext cx="14673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5A6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076027" y="2209205"/>
            <a:ext cx="13896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Header.tsx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076027" y="2339280"/>
            <a:ext cx="13896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Footer.tsx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999827" y="2469356"/>
            <a:ext cx="14673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5A6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pages/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076027" y="2599432"/>
            <a:ext cx="13896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FFB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 index.tsx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804949" y="3981301"/>
            <a:ext cx="17521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实时查看每一个文件变化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2854077" y="1371451"/>
            <a:ext cx="3092202" cy="1182291"/>
          </a:xfrm>
          <a:prstGeom prst="roundRect">
            <a:avLst>
              <a:gd name="adj" fmla="val 8594"/>
            </a:avLst>
          </a:prstGeom>
          <a:solidFill>
            <a:srgbClr val="141B2D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016002" y="1533376"/>
            <a:ext cx="28237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团队状态面板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016002" y="180156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130302" y="1796802"/>
            <a:ext cx="1165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3320802" y="180156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435102" y="1796802"/>
            <a:ext cx="13829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3646884" y="180156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5A65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3761184" y="1796802"/>
            <a:ext cx="1123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3947517" y="180156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5A65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061817" y="1796802"/>
            <a:ext cx="1080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4243983" y="180156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358283" y="1796802"/>
            <a:ext cx="1598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2854077" y="2680692"/>
            <a:ext cx="3092202" cy="1611660"/>
          </a:xfrm>
          <a:prstGeom prst="roundRect">
            <a:avLst>
              <a:gd name="adj" fmla="val 6304"/>
            </a:avLst>
          </a:prstGeom>
          <a:solidFill>
            <a:srgbClr val="141B2D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016002" y="2842617"/>
            <a:ext cx="28237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工程监视器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016002" y="3080742"/>
            <a:ext cx="2768352" cy="849660"/>
          </a:xfrm>
          <a:prstGeom prst="roundRect">
            <a:avLst>
              <a:gd name="adj" fmla="val 5979"/>
            </a:avLst>
          </a:prstGeom>
          <a:solidFill>
            <a:srgbClr val="0D122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3092202" y="3156942"/>
            <a:ext cx="26682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Dev: Creating Header component...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3092202" y="3267968"/>
            <a:ext cx="26682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5A6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Writing src/components/Header.tsx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3092202" y="3378994"/>
            <a:ext cx="26682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00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Added responsive navigation bar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3092202" y="3490020"/>
            <a:ext cx="26682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5A6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Running lint checks...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3092202" y="3601045"/>
            <a:ext cx="26682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All checks passed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2988318" y="4006602"/>
            <a:ext cx="28237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实时观看 AI 工作过程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6073229" y="1371451"/>
            <a:ext cx="2435870" cy="2920901"/>
          </a:xfrm>
          <a:prstGeom prst="roundRect">
            <a:avLst>
              <a:gd name="adj" fmla="val 4171"/>
            </a:avLst>
          </a:prstGeom>
          <a:solidFill>
            <a:srgbClr val="141B2D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260455" y="160153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B8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412855" y="1558677"/>
            <a:ext cx="4762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指令通道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260455" y="3289250"/>
            <a:ext cx="2061418" cy="257175"/>
          </a:xfrm>
          <a:prstGeom prst="roundRect">
            <a:avLst>
              <a:gd name="adj" fmla="val 29630"/>
            </a:avLst>
          </a:prstGeom>
          <a:solidFill>
            <a:srgbClr val="6C63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6336655" y="3365450"/>
            <a:ext cx="19471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做一个响应式导航栏，参考 Stripe 的风格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6260455" y="3622625"/>
            <a:ext cx="2061418" cy="257175"/>
          </a:xfrm>
          <a:prstGeom prst="roundRect">
            <a:avLst>
              <a:gd name="adj" fmla="val 29630"/>
            </a:avLst>
          </a:prstGeom>
          <a:solidFill>
            <a:srgbClr val="00D2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6336655" y="3698825"/>
            <a:ext cx="19471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收到！正在创建导航组件...</a:t>
            </a:r>
            <a:endParaRPr lang="en-US" sz="600" dirty="0"/>
          </a:p>
        </p:txBody>
      </p:sp>
      <p:sp>
        <p:nvSpPr>
          <p:cNvPr id="44" name="Text 41"/>
          <p:cNvSpPr/>
          <p:nvPr/>
        </p:nvSpPr>
        <p:spPr>
          <a:xfrm>
            <a:off x="6239841" y="3981301"/>
            <a:ext cx="210264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自然语言下达命令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450" y="507950"/>
            <a:ext cx="79020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98450" y="752326"/>
            <a:ext cx="790204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透明厨房 · 每一步都看得见</a:t>
            </a:r>
            <a:endParaRPr lang="en-US" sz="3000" dirty="0"/>
          </a:p>
        </p:txBody>
      </p:sp>
      <p:pic>
        <p:nvPicPr>
          <p:cNvPr id="5" name="Image 1" descr="/Users/dorayo/Codes/Orchestrix/workspace/youlidao-pptx/assets/accent-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450" y="1495276"/>
            <a:ext cx="1015901" cy="253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8450" y="1914227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5A6578">
              <a:alpha val="30000"/>
            </a:srgbClr>
          </a:solidFill>
          <a:ln w="9525">
            <a:solidFill>
              <a:srgbClr val="5A657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882848" y="2047577"/>
            <a:ext cx="1096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377851" y="1934914"/>
            <a:ext cx="17173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· 空闲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377851" y="2188815"/>
            <a:ext cx="17173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等待任务分配，随时可以激活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98450" y="2568178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FFB84D">
              <a:alpha val="20000"/>
            </a:srgbClr>
          </a:solidFill>
          <a:ln w="9525">
            <a:solidFill>
              <a:srgbClr val="FFB84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882848" y="2701528"/>
            <a:ext cx="1096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377851" y="2588865"/>
            <a:ext cx="2113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Activating · 激活中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377851" y="2842766"/>
            <a:ext cx="211357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正在启动工作环境，加载项目上下文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98450" y="3222129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3FB950">
              <a:alpha val="20000"/>
            </a:srgbClr>
          </a:solidFill>
          <a:ln w="9525">
            <a:solidFill>
              <a:srgbClr val="3FB9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882848" y="3355479"/>
            <a:ext cx="1096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377851" y="3242816"/>
            <a:ext cx="14530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· 就绪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377851" y="3496717"/>
            <a:ext cx="14530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准备完毕，可以接受命令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98450" y="387608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58A6FF">
              <a:alpha val="20000"/>
            </a:srgbClr>
          </a:solidFill>
          <a:ln w="9525">
            <a:solidFill>
              <a:srgbClr val="58A6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882848" y="4009430"/>
            <a:ext cx="1096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377851" y="3896767"/>
            <a:ext cx="2113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Executing · 执行中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377851" y="4150668"/>
            <a:ext cx="211357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正在工作，可在监视器实时查看输出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20979" y="4580930"/>
            <a:ext cx="79020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告别黑盒开发  ·  每个 AI 的工作状态一目了然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low-c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dorayo/Codes/Orchestrix/workspace/youlidao-pptx/assets/g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79962" y="1090613"/>
            <a:ext cx="12077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3022074" y="1385888"/>
            <a:ext cx="3099852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200"/>
              </a:spcBef>
              <a:buNone/>
            </a:pPr>
            <a:r>
              <a:rPr lang="en-US" sz="3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谁在使用</a:t>
            </a:r>
            <a:endParaRPr lang="en-US" sz="3800" dirty="0"/>
          </a:p>
          <a:p>
            <a:pPr marL="0" indent="0" algn="ctr">
              <a:spcBef>
                <a:spcPts val="1200"/>
              </a:spcBef>
              <a:buNone/>
            </a:pPr>
            <a:r>
              <a:rPr lang="en-US" sz="3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软件公司？</a:t>
            </a:r>
            <a:endParaRPr lang="en-US" sz="3800" dirty="0"/>
          </a:p>
        </p:txBody>
      </p:sp>
      <p:pic>
        <p:nvPicPr>
          <p:cNvPr id="6" name="Image 2" descr="/Users/dorayo/Codes/Orchestrix/workspace/youlidao-pptx/assets/accent-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4050" y="3011388"/>
            <a:ext cx="1015901" cy="381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474674" y="3468588"/>
            <a:ext cx="39636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3"/>
          <p:cNvSpPr/>
          <p:nvPr/>
        </p:nvSpPr>
        <p:spPr>
          <a:xfrm>
            <a:off x="3474674" y="3871764"/>
            <a:ext cx="3963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创业者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4242969" y="3468588"/>
            <a:ext cx="52843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5"/>
          <p:cNvSpPr/>
          <p:nvPr/>
        </p:nvSpPr>
        <p:spPr>
          <a:xfrm>
            <a:off x="4242969" y="3871764"/>
            <a:ext cx="5284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技术团队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5142040" y="3468588"/>
            <a:ext cx="52843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5142040" y="3871764"/>
            <a:ext cx="5284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产品经理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450" y="507950"/>
            <a:ext cx="790204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698450" y="882551"/>
            <a:ext cx="790204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创业者的 MVP 加速器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98450" y="1641277"/>
            <a:ext cx="3569791" cy="1735782"/>
          </a:xfrm>
          <a:prstGeom prst="roundRect">
            <a:avLst>
              <a:gd name="adj" fmla="val 5853"/>
            </a:avLst>
          </a:prstGeom>
          <a:solidFill>
            <a:srgbClr val="F85149">
              <a:alpha val="8000"/>
            </a:srgbClr>
          </a:solidFill>
          <a:ln w="9525">
            <a:solidFill>
              <a:srgbClr val="F8514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936575" y="1879402"/>
            <a:ext cx="31554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36575" y="2174677"/>
            <a:ext cx="3155412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招聘团队：2-3 个月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36575" y="2428429"/>
            <a:ext cx="3155412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外包沟通：效率低下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36575" y="2682180"/>
            <a:ext cx="3155412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预算门槛：50 万+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36575" y="2935932"/>
            <a:ext cx="3155412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交付周期：3-6 个月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471392" y="2370981"/>
            <a:ext cx="20524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875758" y="1641277"/>
            <a:ext cx="3569791" cy="1735782"/>
          </a:xfrm>
          <a:prstGeom prst="roundRect">
            <a:avLst>
              <a:gd name="adj" fmla="val 5853"/>
            </a:avLst>
          </a:prstGeom>
          <a:solidFill>
            <a:srgbClr val="3FB950">
              <a:alpha val="8000"/>
            </a:srgbClr>
          </a:solidFill>
          <a:ln w="9525">
            <a:solidFill>
              <a:srgbClr val="3FB9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113883" y="1879402"/>
            <a:ext cx="31554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113883" y="2174677"/>
            <a:ext cx="3155412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spcBef>
                <a:spcPts val="12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即刻开始，无需招聘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113883" y="2428429"/>
            <a:ext cx="3155412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直接对话 AI，零沟通损耗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113883" y="2682180"/>
            <a:ext cx="3155412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 元/月起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113883" y="2935932"/>
            <a:ext cx="3155412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数天内获得可用原型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98450" y="3656409"/>
            <a:ext cx="7747099" cy="622102"/>
          </a:xfrm>
          <a:prstGeom prst="roundRect">
            <a:avLst>
              <a:gd name="adj" fmla="val 16332"/>
            </a:avLst>
          </a:prstGeom>
          <a:solidFill>
            <a:srgbClr val="141B2D"/>
          </a:solidFill>
          <a:ln w="9525">
            <a:solidFill>
              <a:srgbClr val="FFB84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889674" y="3843635"/>
            <a:ext cx="736465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从想法到 MVP：数天 vs 数月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450" y="507950"/>
            <a:ext cx="365454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698450" y="882551"/>
            <a:ext cx="365454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技术团队的效能倍增器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511951" y="507950"/>
            <a:ext cx="933599" cy="660202"/>
          </a:xfrm>
          <a:prstGeom prst="roundRect">
            <a:avLst>
              <a:gd name="adj" fmla="val 15389"/>
            </a:avLst>
          </a:prstGeom>
          <a:solidFill>
            <a:srgbClr val="FFB84D">
              <a:alpha val="10000"/>
            </a:srgbClr>
          </a:solidFill>
          <a:ln w="9525">
            <a:solidFill>
              <a:srgbClr val="FFB84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724626" y="618976"/>
            <a:ext cx="51841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3-5x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19544" y="914251"/>
            <a:ext cx="5184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产能提升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98450" y="1666726"/>
            <a:ext cx="3797350" cy="923925"/>
          </a:xfrm>
          <a:prstGeom prst="roundRect">
            <a:avLst>
              <a:gd name="adj" fmla="val 10997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98450" y="1671489"/>
            <a:ext cx="379735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491038" y="1666726"/>
            <a:ext cx="0" cy="923925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98450" y="2585889"/>
            <a:ext cx="379735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17500" y="1666726"/>
            <a:ext cx="0" cy="923925"/>
          </a:xfrm>
          <a:prstGeom prst="line">
            <a:avLst/>
          </a:prstGeom>
          <a:noFill/>
          <a:ln w="3810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65150" y="1904851"/>
            <a:ext cx="33583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接手重复性开发任务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65150" y="2190601"/>
            <a:ext cx="33583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AI 处理 CRUD、表单、列表等标准功能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648200" y="1666726"/>
            <a:ext cx="3797350" cy="923925"/>
          </a:xfrm>
          <a:prstGeom prst="roundRect">
            <a:avLst>
              <a:gd name="adj" fmla="val 10997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648200" y="1671489"/>
            <a:ext cx="379735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440787" y="1666726"/>
            <a:ext cx="0" cy="923925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648200" y="2585889"/>
            <a:ext cx="379735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667250" y="1666726"/>
            <a:ext cx="0" cy="923925"/>
          </a:xfrm>
          <a:prstGeom prst="line">
            <a:avLst/>
          </a:prstGeom>
          <a:noFill/>
          <a:ln w="381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914900" y="1904851"/>
            <a:ext cx="33583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自动生成样板代码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914900" y="2190601"/>
            <a:ext cx="33583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组件骨架、API 路由、数据模型一键生成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98450" y="2743051"/>
            <a:ext cx="3797350" cy="923925"/>
          </a:xfrm>
          <a:prstGeom prst="roundRect">
            <a:avLst>
              <a:gd name="adj" fmla="val 10997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698450" y="2747814"/>
            <a:ext cx="379735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491038" y="2743051"/>
            <a:ext cx="0" cy="923925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98450" y="3662214"/>
            <a:ext cx="379735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17500" y="2743051"/>
            <a:ext cx="0" cy="923925"/>
          </a:xfrm>
          <a:prstGeom prst="line">
            <a:avLst/>
          </a:prstGeom>
          <a:noFill/>
          <a:ln w="381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65150" y="2981176"/>
            <a:ext cx="33583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自动化测试编写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65150" y="3266926"/>
            <a:ext cx="33583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单元测试、集成测试自动生成并执行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648200" y="2743051"/>
            <a:ext cx="3797350" cy="923925"/>
          </a:xfrm>
          <a:prstGeom prst="roundRect">
            <a:avLst>
              <a:gd name="adj" fmla="val 10997"/>
            </a:avLst>
          </a:prstGeom>
          <a:solidFill>
            <a:srgbClr val="141B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4648200" y="2747814"/>
            <a:ext cx="379735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440787" y="2743051"/>
            <a:ext cx="0" cy="923925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648200" y="3662214"/>
            <a:ext cx="379735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667250" y="2743051"/>
            <a:ext cx="0" cy="923925"/>
          </a:xfrm>
          <a:prstGeom prst="line">
            <a:avLst/>
          </a:prstGeom>
          <a:noFill/>
          <a:ln w="38100">
            <a:solidFill>
              <a:srgbClr val="FFB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914900" y="2981176"/>
            <a:ext cx="33583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文档自动生成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914900" y="3266926"/>
            <a:ext cx="33583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文档、README、技术规范同步输出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901" y="444401"/>
            <a:ext cx="8031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EDGE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34901" y="663476"/>
            <a:ext cx="803168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不止是 AI 编程助手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4901" y="1333351"/>
          <a:ext cx="6858000" cy="3429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youlidao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Cursor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Copilot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Replit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0F6FC"/>
                          </a:solidFill>
                        </a:rPr>
                        <a:t>完整 AI 团队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FB95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85149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85149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85149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0F6FC"/>
                          </a:solidFill>
                        </a:rPr>
                        <a:t>全流程覆盖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FB95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85149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85149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B84D"/>
                          </a:solidFill>
                        </a:rPr>
                        <a:t>⚠️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0F6FC"/>
                          </a:solidFill>
                        </a:rPr>
                        <a:t>透明可见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FB95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B84D"/>
                          </a:solidFill>
                        </a:rPr>
                        <a:t>⚠️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85149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B84D"/>
                          </a:solidFill>
                        </a:rPr>
                        <a:t>⚠️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0F6FC"/>
                          </a:solidFill>
                        </a:rPr>
                        <a:t>架构设计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FB95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85149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85149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85149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0F6FC"/>
                          </a:solidFill>
                        </a:rPr>
                        <a:t>质量门禁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FB95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85149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85149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B84D"/>
                          </a:solidFill>
                        </a:rPr>
                        <a:t>⚠️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0F6FC"/>
                          </a:solidFill>
                        </a:rPr>
                        <a:t>Git 深度集成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FB95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FB95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FB95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B84D"/>
                          </a:solidFill>
                        </a:rPr>
                        <a:t>⚠️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450" y="507950"/>
            <a:ext cx="79020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98450" y="727025"/>
            <a:ext cx="790204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企业级技术底座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98450" y="1511201"/>
            <a:ext cx="1822400" cy="1640235"/>
          </a:xfrm>
          <a:prstGeom prst="roundRect">
            <a:avLst>
              <a:gd name="adj" fmla="val 6194"/>
            </a:avLst>
          </a:prstGeom>
          <a:solidFill>
            <a:srgbClr val="141B2D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371451" y="1749326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6C63FF">
              <a:alpha val="15000"/>
            </a:srgbClr>
          </a:solidFill>
          <a:ln w="9525">
            <a:solidFill>
              <a:srgbClr val="6C63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507563" y="1854101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23114" y="2352526"/>
            <a:ext cx="13730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23114" y="2581126"/>
            <a:ext cx="137307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spcBef>
                <a:spcPts val="600"/>
              </a:spcBef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业界最强推理能力</a:t>
            </a:r>
            <a:endParaRPr lang="en-US" sz="800" dirty="0"/>
          </a:p>
          <a:p>
            <a:pPr marL="0" indent="0" algn="ctr">
              <a:lnSpc>
                <a:spcPts val="1120"/>
              </a:lnSpc>
              <a:spcBef>
                <a:spcPts val="600"/>
              </a:spcBef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旗舰模型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673251" y="1511201"/>
            <a:ext cx="1822549" cy="1640235"/>
          </a:xfrm>
          <a:prstGeom prst="roundRect">
            <a:avLst>
              <a:gd name="adj" fmla="val 6194"/>
            </a:avLst>
          </a:prstGeom>
          <a:solidFill>
            <a:srgbClr val="141B2D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346400" y="1749326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00D2FF">
              <a:alpha val="15000"/>
            </a:srgbClr>
          </a:solidFill>
          <a:ln w="9525">
            <a:solidFill>
              <a:srgbClr val="00D2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482513" y="1854101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897913" y="2352526"/>
            <a:ext cx="1373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实时同步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897913" y="2628751"/>
            <a:ext cx="137322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spcBef>
                <a:spcPts val="600"/>
              </a:spcBef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双向通信</a:t>
            </a:r>
            <a:endParaRPr lang="en-US" sz="800" dirty="0"/>
          </a:p>
          <a:p>
            <a:pPr marL="0" indent="0" algn="ctr">
              <a:lnSpc>
                <a:spcPts val="1120"/>
              </a:lnSpc>
              <a:spcBef>
                <a:spcPts val="600"/>
              </a:spcBef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多设备实时协作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48200" y="1511201"/>
            <a:ext cx="1822400" cy="1640235"/>
          </a:xfrm>
          <a:prstGeom prst="roundRect">
            <a:avLst>
              <a:gd name="adj" fmla="val 6194"/>
            </a:avLst>
          </a:prstGeom>
          <a:solidFill>
            <a:srgbClr val="141B2D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321201" y="1749326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3FB950">
              <a:alpha val="15000"/>
            </a:srgbClr>
          </a:solidFill>
          <a:ln w="9525">
            <a:solidFill>
              <a:srgbClr val="3FB9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457313" y="1854101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872863" y="2352526"/>
            <a:ext cx="13730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银行级安全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72863" y="2628751"/>
            <a:ext cx="137307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spcBef>
                <a:spcPts val="600"/>
              </a:spcBef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行级数据隔离 (RLS)</a:t>
            </a:r>
            <a:endParaRPr lang="en-US" sz="800" dirty="0"/>
          </a:p>
          <a:p>
            <a:pPr marL="0" indent="0" algn="ctr">
              <a:lnSpc>
                <a:spcPts val="1120"/>
              </a:lnSpc>
              <a:spcBef>
                <a:spcPts val="600"/>
              </a:spcBef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代码只属于你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623000" y="1511201"/>
            <a:ext cx="1822549" cy="1640235"/>
          </a:xfrm>
          <a:prstGeom prst="roundRect">
            <a:avLst>
              <a:gd name="adj" fmla="val 6194"/>
            </a:avLst>
          </a:prstGeom>
          <a:solidFill>
            <a:srgbClr val="141B2D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7296150" y="1749326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FFB84D">
              <a:alpha val="15000"/>
            </a:srgbClr>
          </a:solidFill>
          <a:ln w="9525">
            <a:solidFill>
              <a:srgbClr val="FFB84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432262" y="1854101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847662" y="2352526"/>
            <a:ext cx="1373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 CDN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847662" y="2628751"/>
            <a:ext cx="137322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spcBef>
                <a:spcPts val="600"/>
              </a:spcBef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Edge Network</a:t>
            </a:r>
            <a:endParaRPr lang="en-US" sz="800" dirty="0"/>
          </a:p>
          <a:p>
            <a:pPr marL="0" indent="0" algn="ctr">
              <a:lnSpc>
                <a:spcPts val="1120"/>
              </a:lnSpc>
              <a:spcBef>
                <a:spcPts val="600"/>
              </a:spcBef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毫秒级极速响应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305050" y="3405336"/>
            <a:ext cx="4605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074045" y="3405336"/>
            <a:ext cx="4145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797945" y="3405336"/>
            <a:ext cx="4892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95068" y="3405336"/>
            <a:ext cx="4664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369868" y="3405336"/>
            <a:ext cx="5642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240512" y="3405336"/>
            <a:ext cx="610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979" y="444401"/>
            <a:ext cx="79020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0979" y="663476"/>
            <a:ext cx="790204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简单透明的定价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34901" y="1396901"/>
            <a:ext cx="2493466" cy="2085529"/>
          </a:xfrm>
          <a:prstGeom prst="roundRect">
            <a:avLst>
              <a:gd name="adj" fmla="val 6090"/>
            </a:avLst>
          </a:prstGeom>
          <a:solidFill>
            <a:srgbClr val="141B2D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78660" y="1660327"/>
            <a:ext cx="200594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访客计划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78660" y="1942802"/>
            <a:ext cx="200594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$399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78660" y="2371427"/>
            <a:ext cx="20059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/月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98327" y="2685752"/>
            <a:ext cx="1966615" cy="126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78660" y="2850803"/>
            <a:ext cx="20059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初次体验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78660" y="3038029"/>
            <a:ext cx="20059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短期项目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306068" y="1396901"/>
            <a:ext cx="2512665" cy="2085529"/>
          </a:xfrm>
          <a:prstGeom prst="roundRect">
            <a:avLst>
              <a:gd name="adj" fmla="val 6090"/>
            </a:avLst>
          </a:prstGeom>
          <a:solidFill>
            <a:srgbClr val="141B2D"/>
          </a:solidFill>
          <a:ln w="19050">
            <a:solidFill>
              <a:srgbClr val="6C63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192637" y="1289000"/>
            <a:ext cx="739378" cy="145852"/>
          </a:xfrm>
          <a:prstGeom prst="roundRect">
            <a:avLst>
              <a:gd name="adj" fmla="val 87074"/>
            </a:avLst>
          </a:prstGeom>
          <a:solidFill>
            <a:srgbClr val="6C6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340691" y="1314301"/>
            <a:ext cx="4432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3559351" y="1669852"/>
            <a:ext cx="20060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常住计划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559351" y="1952327"/>
            <a:ext cx="200609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$369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3559351" y="2380952"/>
            <a:ext cx="20060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/月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579019" y="2695277"/>
            <a:ext cx="1966764" cy="126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559351" y="2860328"/>
            <a:ext cx="20060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持续开发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559351" y="3047554"/>
            <a:ext cx="20060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长期项目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996434" y="1396901"/>
            <a:ext cx="2512665" cy="2085529"/>
          </a:xfrm>
          <a:prstGeom prst="roundRect">
            <a:avLst>
              <a:gd name="adj" fmla="val 6090"/>
            </a:avLst>
          </a:prstGeom>
          <a:solidFill>
            <a:srgbClr val="141B2D"/>
          </a:solidFill>
          <a:ln w="19050">
            <a:solidFill>
              <a:srgbClr val="FFB84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822132" y="1289000"/>
            <a:ext cx="861120" cy="145852"/>
          </a:xfrm>
          <a:prstGeom prst="roundRect">
            <a:avLst>
              <a:gd name="adj" fmla="val 87074"/>
            </a:avLst>
          </a:prstGeom>
          <a:solidFill>
            <a:srgbClr val="FFB8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968969" y="1314301"/>
            <a:ext cx="5674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0F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VALUE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249717" y="1669852"/>
            <a:ext cx="20060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创始人计划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249717" y="1952327"/>
            <a:ext cx="200609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$299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6249717" y="2380952"/>
            <a:ext cx="20060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269385" y="2695277"/>
            <a:ext cx="1966764" cy="126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249717" y="2860328"/>
            <a:ext cx="20060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早期支持者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249717" y="3047554"/>
            <a:ext cx="20060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专属特惠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599283" y="372531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2726085" y="3685580"/>
            <a:ext cx="7998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 9 人 AI 团队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713411" y="372531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3840212" y="3685580"/>
            <a:ext cx="4233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无限项目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458444" y="372531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585246" y="3685580"/>
            <a:ext cx="4233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无限命令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203478" y="372531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5330279" y="3685580"/>
            <a:ext cx="3728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集成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898952" y="372531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025753" y="3685580"/>
            <a:ext cx="529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多设备同步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low-clos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dorayo/Codes/Orchestrix/workspace/youlidao-pptx/assets/g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855095" y="744736"/>
            <a:ext cx="14623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2015609" y="1040011"/>
            <a:ext cx="5112782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200"/>
              </a:spcBef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三步开启你的 AI 软件公司</a:t>
            </a:r>
            <a:endParaRPr lang="en-US" sz="3400" dirty="0"/>
          </a:p>
        </p:txBody>
      </p:sp>
      <p:pic>
        <p:nvPicPr>
          <p:cNvPr id="6" name="Image 2" descr="/Users/dorayo/Codes/Orchestrix/workspace/youlidao-pptx/assets/accent-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4050" y="1913037"/>
            <a:ext cx="1015901" cy="381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682651" y="2370237"/>
            <a:ext cx="596801" cy="596801"/>
          </a:xfrm>
          <a:prstGeom prst="roundRect">
            <a:avLst>
              <a:gd name="adj" fmla="val 153217"/>
            </a:avLst>
          </a:prstGeom>
          <a:solidFill>
            <a:srgbClr val="6C63FF">
              <a:alpha val="20000"/>
            </a:srgbClr>
          </a:solidFill>
          <a:ln w="19050">
            <a:solidFill>
              <a:srgbClr val="6C63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1908945" y="2521000"/>
            <a:ext cx="14406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1139141" y="3093988"/>
            <a:ext cx="16839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注册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1139141" y="3373338"/>
            <a:ext cx="16839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访问 youlidao.ai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3187601" y="2847975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4273451" y="2370237"/>
            <a:ext cx="596801" cy="596801"/>
          </a:xfrm>
          <a:prstGeom prst="roundRect">
            <a:avLst>
              <a:gd name="adj" fmla="val 153217"/>
            </a:avLst>
          </a:prstGeom>
          <a:solidFill>
            <a:srgbClr val="00D2FF">
              <a:alpha val="20000"/>
            </a:srgbClr>
          </a:solidFill>
          <a:ln w="19050">
            <a:solidFill>
              <a:srgbClr val="00D2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4499745" y="2521000"/>
            <a:ext cx="14406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3729941" y="3093988"/>
            <a:ext cx="16839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订阅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729941" y="3373338"/>
            <a:ext cx="16839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选择适合的方案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5778401" y="2847975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864251" y="2370237"/>
            <a:ext cx="596801" cy="596801"/>
          </a:xfrm>
          <a:prstGeom prst="roundRect">
            <a:avLst>
              <a:gd name="adj" fmla="val 153217"/>
            </a:avLst>
          </a:prstGeom>
          <a:solidFill>
            <a:srgbClr val="FFB84D">
              <a:alpha val="20000"/>
            </a:srgbClr>
          </a:solidFill>
          <a:ln w="19050">
            <a:solidFill>
              <a:srgbClr val="FFB84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7090545" y="2521000"/>
            <a:ext cx="14406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6320741" y="3093988"/>
            <a:ext cx="16839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320741" y="3373338"/>
            <a:ext cx="16839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开始与 AI 团队协作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3286720" y="3916263"/>
            <a:ext cx="2570559" cy="482501"/>
          </a:xfrm>
          <a:prstGeom prst="roundRect">
            <a:avLst>
              <a:gd name="adj" fmla="val 21057"/>
            </a:avLst>
          </a:prstGeom>
          <a:solidFill>
            <a:srgbClr val="6C6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3731121" y="4043214"/>
            <a:ext cx="1872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youlidao.ai  ·  立即体验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rayo/Codes/Orchestrix/workspace/youlidao-pptx/assets/glow-clos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dorayo/Codes/Orchestrix/workspace/youlidao-pptx/assets/g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6C6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3801963" y="1179612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00D2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030414" y="1154162"/>
            <a:ext cx="13377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YOULIDAO.AI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2811217" y="1433513"/>
            <a:ext cx="352156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让每一个有想法的人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2811217" y="1966912"/>
            <a:ext cx="352156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都能把创意变成现实</a:t>
            </a:r>
            <a:endParaRPr lang="en-US" sz="3000" dirty="0"/>
          </a:p>
        </p:txBody>
      </p:sp>
      <p:pic>
        <p:nvPicPr>
          <p:cNvPr id="9" name="Image 2" descr="/Users/dorayo/Codes/Orchestrix/workspace/youlidao-pptx/assets/accent-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6950" y="2824163"/>
            <a:ext cx="1269950" cy="381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279725" y="3179713"/>
            <a:ext cx="26362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你的 AI 软件公司，随时待命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3298180" y="3846463"/>
            <a:ext cx="619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youlidao.ai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286250" y="3846463"/>
            <a:ext cx="337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700290" y="3846463"/>
            <a:ext cx="11682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zh-CN" sz="1000" dirty="0" err="1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r>
              <a:rPr lang="en-US" sz="1000" dirty="0" err="1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@youlidao.ai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-91440" y="4794349"/>
            <a:ext cx="93268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youlidao.ai  ·  AI-Driven Software Company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667</Words>
  <Application>Microsoft Macintosh PowerPoint</Application>
  <PresentationFormat>On-screen Show (16:9)</PresentationFormat>
  <Paragraphs>349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youlidao.ai - AI 驱动的软件公司</dc:title>
  <dc:subject>PptxGenJS Presentation</dc:subject>
  <dc:creator>youlidao.ai</dc:creator>
  <cp:lastModifiedBy>a7608</cp:lastModifiedBy>
  <cp:revision>3</cp:revision>
  <dcterms:created xsi:type="dcterms:W3CDTF">2026-02-03T03:10:27Z</dcterms:created>
  <dcterms:modified xsi:type="dcterms:W3CDTF">2026-02-03T03:20:22Z</dcterms:modified>
</cp:coreProperties>
</file>